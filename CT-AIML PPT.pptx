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4" r:id="rId6"/>
    <p:sldId id="265" r:id="rId7"/>
    <p:sldId id="266" r:id="rId8"/>
    <p:sldId id="277" r:id="rId9"/>
    <p:sldId id="269" r:id="rId10"/>
    <p:sldId id="267" r:id="rId11"/>
    <p:sldId id="280" r:id="rId12"/>
    <p:sldId id="279" r:id="rId13"/>
    <p:sldId id="270" r:id="rId14"/>
    <p:sldId id="284" r:id="rId15"/>
    <p:sldId id="281" r:id="rId16"/>
    <p:sldId id="283" r:id="rId17"/>
    <p:sldId id="272" r:id="rId18"/>
    <p:sldId id="278" r:id="rId19"/>
    <p:sldId id="274" r:id="rId20"/>
    <p:sldId id="275" r:id="rId21"/>
    <p:sldId id="273" r:id="rId22"/>
    <p:sldId id="276" r:id="rId2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71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5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bg1"/>
                </a:solidFill>
                <a:latin typeface="Times New Roman"/>
                <a:cs typeface="Times New Roman"/>
              </a:defRPr>
            </a:lvl1pPr>
          </a:lstStyle>
          <a:p>
            <a:pPr marL="432434">
              <a:lnSpc>
                <a:spcPts val="1410"/>
              </a:lnSpc>
            </a:pPr>
            <a:r>
              <a:rPr dirty="0"/>
              <a:t>Dysarthria</a:t>
            </a:r>
            <a:r>
              <a:rPr spc="-25" dirty="0"/>
              <a:t> </a:t>
            </a:r>
            <a:r>
              <a:rPr dirty="0"/>
              <a:t>Speech</a:t>
            </a:r>
            <a:r>
              <a:rPr spc="-40" dirty="0"/>
              <a:t> </a:t>
            </a:r>
            <a:r>
              <a:rPr dirty="0"/>
              <a:t>Therapy</a:t>
            </a:r>
            <a:r>
              <a:rPr spc="-25" dirty="0"/>
              <a:t> </a:t>
            </a:r>
            <a:r>
              <a:rPr spc="-10" dirty="0"/>
              <a:t>Progress</a:t>
            </a:r>
            <a:r>
              <a:rPr spc="-25" dirty="0"/>
              <a:t> </a:t>
            </a:r>
            <a:r>
              <a:rPr spc="-10" dirty="0"/>
              <a:t>Prediction</a:t>
            </a:r>
            <a:r>
              <a:rPr spc="-25" dirty="0"/>
              <a:t> </a:t>
            </a:r>
            <a:r>
              <a:rPr dirty="0"/>
              <a:t>and</a:t>
            </a:r>
            <a:r>
              <a:rPr spc="-25" dirty="0"/>
              <a:t> </a:t>
            </a:r>
            <a:r>
              <a:rPr dirty="0"/>
              <a:t>Indication</a:t>
            </a:r>
            <a:r>
              <a:rPr spc="-25" dirty="0"/>
              <a:t> </a:t>
            </a:r>
            <a:r>
              <a:rPr dirty="0"/>
              <a:t>using</a:t>
            </a:r>
            <a:r>
              <a:rPr spc="-20" dirty="0"/>
              <a:t> </a:t>
            </a:r>
            <a:r>
              <a:rPr spc="-10" dirty="0"/>
              <a:t>Machine</a:t>
            </a:r>
            <a:r>
              <a:rPr spc="-25" dirty="0"/>
              <a:t> </a:t>
            </a:r>
            <a:r>
              <a:rPr spc="-10" dirty="0"/>
              <a:t>Learning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4935">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5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bg1"/>
                </a:solidFill>
                <a:latin typeface="Times New Roman"/>
                <a:cs typeface="Times New Roman"/>
              </a:defRPr>
            </a:lvl1pPr>
          </a:lstStyle>
          <a:p>
            <a:pPr marL="432434">
              <a:lnSpc>
                <a:spcPts val="1410"/>
              </a:lnSpc>
            </a:pPr>
            <a:r>
              <a:rPr dirty="0"/>
              <a:t>Dysarthria</a:t>
            </a:r>
            <a:r>
              <a:rPr spc="-25" dirty="0"/>
              <a:t> </a:t>
            </a:r>
            <a:r>
              <a:rPr dirty="0"/>
              <a:t>Speech</a:t>
            </a:r>
            <a:r>
              <a:rPr spc="-40" dirty="0"/>
              <a:t> </a:t>
            </a:r>
            <a:r>
              <a:rPr dirty="0"/>
              <a:t>Therapy</a:t>
            </a:r>
            <a:r>
              <a:rPr spc="-25" dirty="0"/>
              <a:t> </a:t>
            </a:r>
            <a:r>
              <a:rPr spc="-10" dirty="0"/>
              <a:t>Progress</a:t>
            </a:r>
            <a:r>
              <a:rPr spc="-25" dirty="0"/>
              <a:t> </a:t>
            </a:r>
            <a:r>
              <a:rPr spc="-10" dirty="0"/>
              <a:t>Prediction</a:t>
            </a:r>
            <a:r>
              <a:rPr spc="-25" dirty="0"/>
              <a:t> </a:t>
            </a:r>
            <a:r>
              <a:rPr dirty="0"/>
              <a:t>and</a:t>
            </a:r>
            <a:r>
              <a:rPr spc="-25" dirty="0"/>
              <a:t> </a:t>
            </a:r>
            <a:r>
              <a:rPr dirty="0"/>
              <a:t>Indication</a:t>
            </a:r>
            <a:r>
              <a:rPr spc="-25" dirty="0"/>
              <a:t> </a:t>
            </a:r>
            <a:r>
              <a:rPr dirty="0"/>
              <a:t>using</a:t>
            </a:r>
            <a:r>
              <a:rPr spc="-20" dirty="0"/>
              <a:t> </a:t>
            </a:r>
            <a:r>
              <a:rPr spc="-10" dirty="0"/>
              <a:t>Machine</a:t>
            </a:r>
            <a:r>
              <a:rPr spc="-25" dirty="0"/>
              <a:t> </a:t>
            </a:r>
            <a:r>
              <a:rPr spc="-10" dirty="0"/>
              <a:t>Learning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4935">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5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chemeClr val="bg1"/>
                </a:solidFill>
                <a:latin typeface="Times New Roman"/>
                <a:cs typeface="Times New Roman"/>
              </a:defRPr>
            </a:lvl1pPr>
          </a:lstStyle>
          <a:p>
            <a:pPr marL="432434">
              <a:lnSpc>
                <a:spcPts val="1410"/>
              </a:lnSpc>
            </a:pPr>
            <a:r>
              <a:rPr dirty="0"/>
              <a:t>Dysarthria</a:t>
            </a:r>
            <a:r>
              <a:rPr spc="-25" dirty="0"/>
              <a:t> </a:t>
            </a:r>
            <a:r>
              <a:rPr dirty="0"/>
              <a:t>Speech</a:t>
            </a:r>
            <a:r>
              <a:rPr spc="-40" dirty="0"/>
              <a:t> </a:t>
            </a:r>
            <a:r>
              <a:rPr dirty="0"/>
              <a:t>Therapy</a:t>
            </a:r>
            <a:r>
              <a:rPr spc="-25" dirty="0"/>
              <a:t> </a:t>
            </a:r>
            <a:r>
              <a:rPr spc="-10" dirty="0"/>
              <a:t>Progress</a:t>
            </a:r>
            <a:r>
              <a:rPr spc="-25" dirty="0"/>
              <a:t> </a:t>
            </a:r>
            <a:r>
              <a:rPr spc="-10" dirty="0"/>
              <a:t>Prediction</a:t>
            </a:r>
            <a:r>
              <a:rPr spc="-25" dirty="0"/>
              <a:t> </a:t>
            </a:r>
            <a:r>
              <a:rPr dirty="0"/>
              <a:t>and</a:t>
            </a:r>
            <a:r>
              <a:rPr spc="-25" dirty="0"/>
              <a:t> </a:t>
            </a:r>
            <a:r>
              <a:rPr dirty="0"/>
              <a:t>Indication</a:t>
            </a:r>
            <a:r>
              <a:rPr spc="-25" dirty="0"/>
              <a:t> </a:t>
            </a:r>
            <a:r>
              <a:rPr dirty="0"/>
              <a:t>using</a:t>
            </a:r>
            <a:r>
              <a:rPr spc="-20" dirty="0"/>
              <a:t> </a:t>
            </a:r>
            <a:r>
              <a:rPr spc="-10" dirty="0"/>
              <a:t>Machine</a:t>
            </a:r>
            <a:r>
              <a:rPr spc="-25" dirty="0"/>
              <a:t> </a:t>
            </a:r>
            <a:r>
              <a:rPr spc="-10" dirty="0"/>
              <a:t>Learning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7" name="Holder 7"/>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4935">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5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1" i="0">
                <a:solidFill>
                  <a:schemeClr val="bg1"/>
                </a:solidFill>
                <a:latin typeface="Times New Roman"/>
                <a:cs typeface="Times New Roman"/>
              </a:defRPr>
            </a:lvl1pPr>
          </a:lstStyle>
          <a:p>
            <a:pPr marL="432434">
              <a:lnSpc>
                <a:spcPts val="1410"/>
              </a:lnSpc>
            </a:pPr>
            <a:r>
              <a:rPr dirty="0"/>
              <a:t>Dysarthria</a:t>
            </a:r>
            <a:r>
              <a:rPr spc="-25" dirty="0"/>
              <a:t> </a:t>
            </a:r>
            <a:r>
              <a:rPr dirty="0"/>
              <a:t>Speech</a:t>
            </a:r>
            <a:r>
              <a:rPr spc="-40" dirty="0"/>
              <a:t> </a:t>
            </a:r>
            <a:r>
              <a:rPr dirty="0"/>
              <a:t>Therapy</a:t>
            </a:r>
            <a:r>
              <a:rPr spc="-25" dirty="0"/>
              <a:t> </a:t>
            </a:r>
            <a:r>
              <a:rPr spc="-10" dirty="0"/>
              <a:t>Progress</a:t>
            </a:r>
            <a:r>
              <a:rPr spc="-25" dirty="0"/>
              <a:t> </a:t>
            </a:r>
            <a:r>
              <a:rPr spc="-10" dirty="0"/>
              <a:t>Prediction</a:t>
            </a:r>
            <a:r>
              <a:rPr spc="-25" dirty="0"/>
              <a:t> </a:t>
            </a:r>
            <a:r>
              <a:rPr dirty="0"/>
              <a:t>and</a:t>
            </a:r>
            <a:r>
              <a:rPr spc="-25" dirty="0"/>
              <a:t> </a:t>
            </a:r>
            <a:r>
              <a:rPr dirty="0"/>
              <a:t>Indication</a:t>
            </a:r>
            <a:r>
              <a:rPr spc="-25" dirty="0"/>
              <a:t> </a:t>
            </a:r>
            <a:r>
              <a:rPr dirty="0"/>
              <a:t>using</a:t>
            </a:r>
            <a:r>
              <a:rPr spc="-20" dirty="0"/>
              <a:t> </a:t>
            </a:r>
            <a:r>
              <a:rPr spc="-10" dirty="0"/>
              <a:t>Machine</a:t>
            </a:r>
            <a:r>
              <a:rPr spc="-25" dirty="0"/>
              <a:t> </a:t>
            </a:r>
            <a:r>
              <a:rPr spc="-10" dirty="0"/>
              <a:t>Learning</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5" name="Holder 5"/>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4935">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1" i="0">
                <a:solidFill>
                  <a:schemeClr val="bg1"/>
                </a:solidFill>
                <a:latin typeface="Times New Roman"/>
                <a:cs typeface="Times New Roman"/>
              </a:defRPr>
            </a:lvl1pPr>
          </a:lstStyle>
          <a:p>
            <a:pPr marL="432434">
              <a:lnSpc>
                <a:spcPts val="1410"/>
              </a:lnSpc>
            </a:pPr>
            <a:r>
              <a:rPr dirty="0"/>
              <a:t>Dysarthria</a:t>
            </a:r>
            <a:r>
              <a:rPr spc="-25" dirty="0"/>
              <a:t> </a:t>
            </a:r>
            <a:r>
              <a:rPr dirty="0"/>
              <a:t>Speech</a:t>
            </a:r>
            <a:r>
              <a:rPr spc="-40" dirty="0"/>
              <a:t> </a:t>
            </a:r>
            <a:r>
              <a:rPr dirty="0"/>
              <a:t>Therapy</a:t>
            </a:r>
            <a:r>
              <a:rPr spc="-25" dirty="0"/>
              <a:t> </a:t>
            </a:r>
            <a:r>
              <a:rPr spc="-10" dirty="0"/>
              <a:t>Progress</a:t>
            </a:r>
            <a:r>
              <a:rPr spc="-25" dirty="0"/>
              <a:t> </a:t>
            </a:r>
            <a:r>
              <a:rPr spc="-10" dirty="0"/>
              <a:t>Prediction</a:t>
            </a:r>
            <a:r>
              <a:rPr spc="-25" dirty="0"/>
              <a:t> </a:t>
            </a:r>
            <a:r>
              <a:rPr dirty="0"/>
              <a:t>and</a:t>
            </a:r>
            <a:r>
              <a:rPr spc="-25" dirty="0"/>
              <a:t> </a:t>
            </a:r>
            <a:r>
              <a:rPr dirty="0"/>
              <a:t>Indication</a:t>
            </a:r>
            <a:r>
              <a:rPr spc="-25" dirty="0"/>
              <a:t> </a:t>
            </a:r>
            <a:r>
              <a:rPr dirty="0"/>
              <a:t>using</a:t>
            </a:r>
            <a:r>
              <a:rPr spc="-20" dirty="0"/>
              <a:t> </a:t>
            </a:r>
            <a:r>
              <a:rPr spc="-10" dirty="0"/>
              <a:t>Machine</a:t>
            </a:r>
            <a:r>
              <a:rPr spc="-25" dirty="0"/>
              <a:t> </a:t>
            </a:r>
            <a:r>
              <a:rPr spc="-10" dirty="0"/>
              <a:t>Learning</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4" name="Holder 4"/>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14935">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356351"/>
            <a:ext cx="9144000" cy="501650"/>
          </a:xfrm>
          <a:custGeom>
            <a:avLst/>
            <a:gdLst/>
            <a:ahLst/>
            <a:cxnLst/>
            <a:rect l="l" t="t" r="r" b="b"/>
            <a:pathLst>
              <a:path w="9144000" h="501650">
                <a:moveTo>
                  <a:pt x="9143999" y="501648"/>
                </a:moveTo>
                <a:lnTo>
                  <a:pt x="0" y="501648"/>
                </a:lnTo>
                <a:lnTo>
                  <a:pt x="0" y="0"/>
                </a:lnTo>
                <a:lnTo>
                  <a:pt x="9143999" y="0"/>
                </a:lnTo>
                <a:lnTo>
                  <a:pt x="9143999" y="501648"/>
                </a:lnTo>
                <a:close/>
              </a:path>
            </a:pathLst>
          </a:custGeom>
          <a:solidFill>
            <a:srgbClr val="203764"/>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8446978" y="125865"/>
            <a:ext cx="608539" cy="531588"/>
          </a:xfrm>
          <a:prstGeom prst="rect">
            <a:avLst/>
          </a:prstGeom>
        </p:spPr>
      </p:pic>
      <p:pic>
        <p:nvPicPr>
          <p:cNvPr id="18" name="bg object 18"/>
          <p:cNvPicPr/>
          <p:nvPr/>
        </p:nvPicPr>
        <p:blipFill>
          <a:blip r:embed="rId8" cstate="print"/>
          <a:stretch>
            <a:fillRect/>
          </a:stretch>
        </p:blipFill>
        <p:spPr>
          <a:xfrm>
            <a:off x="544674" y="948856"/>
            <a:ext cx="7787561" cy="45719"/>
          </a:xfrm>
          <a:prstGeom prst="rect">
            <a:avLst/>
          </a:prstGeom>
        </p:spPr>
      </p:pic>
      <p:sp>
        <p:nvSpPr>
          <p:cNvPr id="19" name="bg object 19"/>
          <p:cNvSpPr/>
          <p:nvPr/>
        </p:nvSpPr>
        <p:spPr>
          <a:xfrm>
            <a:off x="544674" y="948856"/>
            <a:ext cx="7787640" cy="45720"/>
          </a:xfrm>
          <a:custGeom>
            <a:avLst/>
            <a:gdLst/>
            <a:ahLst/>
            <a:cxnLst/>
            <a:rect l="l" t="t" r="r" b="b"/>
            <a:pathLst>
              <a:path w="7787640" h="45719">
                <a:moveTo>
                  <a:pt x="0" y="0"/>
                </a:moveTo>
                <a:lnTo>
                  <a:pt x="7787561" y="0"/>
                </a:lnTo>
                <a:lnTo>
                  <a:pt x="7787561" y="45719"/>
                </a:lnTo>
                <a:lnTo>
                  <a:pt x="0" y="45719"/>
                </a:lnTo>
                <a:lnTo>
                  <a:pt x="0" y="0"/>
                </a:lnTo>
                <a:close/>
              </a:path>
            </a:pathLst>
          </a:custGeom>
          <a:ln w="9524">
            <a:solidFill>
              <a:srgbClr val="ED7D31"/>
            </a:solidFill>
          </a:ln>
        </p:spPr>
        <p:txBody>
          <a:bodyPr wrap="square" lIns="0" tIns="0" rIns="0" bIns="0" rtlCol="0"/>
          <a:lstStyle/>
          <a:p>
            <a:endParaRPr/>
          </a:p>
        </p:txBody>
      </p:sp>
      <p:sp>
        <p:nvSpPr>
          <p:cNvPr id="2" name="Holder 2"/>
          <p:cNvSpPr>
            <a:spLocks noGrp="1"/>
          </p:cNvSpPr>
          <p:nvPr>
            <p:ph type="title"/>
          </p:nvPr>
        </p:nvSpPr>
        <p:spPr>
          <a:xfrm>
            <a:off x="570074" y="236081"/>
            <a:ext cx="8003851" cy="629285"/>
          </a:xfrm>
          <a:prstGeom prst="rect">
            <a:avLst/>
          </a:prstGeom>
        </p:spPr>
        <p:txBody>
          <a:bodyPr wrap="square" lIns="0" tIns="0" rIns="0" bIns="0">
            <a:spAutoFit/>
          </a:bodyPr>
          <a:lstStyle>
            <a:lvl1pPr>
              <a:defRPr sz="325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70050" y="1031271"/>
            <a:ext cx="7713345" cy="473646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507559" y="6488274"/>
            <a:ext cx="6200823" cy="300579"/>
          </a:xfrm>
          <a:prstGeom prst="rect">
            <a:avLst/>
          </a:prstGeom>
        </p:spPr>
        <p:txBody>
          <a:bodyPr wrap="square" lIns="0" tIns="0" rIns="0" bIns="0">
            <a:spAutoFit/>
          </a:bodyPr>
          <a:lstStyle>
            <a:lvl1pPr>
              <a:defRPr sz="1200" b="1" i="0">
                <a:solidFill>
                  <a:schemeClr val="bg1"/>
                </a:solidFill>
                <a:latin typeface="Times New Roman"/>
                <a:cs typeface="Times New Roman"/>
              </a:defRPr>
            </a:lvl1pPr>
          </a:lstStyle>
          <a:p>
            <a:pPr marL="432434">
              <a:lnSpc>
                <a:spcPts val="1410"/>
              </a:lnSpc>
            </a:pPr>
            <a:r>
              <a:rPr dirty="0"/>
              <a:t>Dysarthria</a:t>
            </a:r>
            <a:r>
              <a:rPr spc="-25" dirty="0"/>
              <a:t> </a:t>
            </a:r>
            <a:r>
              <a:rPr dirty="0"/>
              <a:t>Speech</a:t>
            </a:r>
            <a:r>
              <a:rPr spc="-40" dirty="0"/>
              <a:t> </a:t>
            </a:r>
            <a:r>
              <a:rPr dirty="0"/>
              <a:t>Therapy</a:t>
            </a:r>
            <a:r>
              <a:rPr spc="-25" dirty="0"/>
              <a:t> </a:t>
            </a:r>
            <a:r>
              <a:rPr spc="-10" dirty="0"/>
              <a:t>Progress</a:t>
            </a:r>
            <a:r>
              <a:rPr spc="-25" dirty="0"/>
              <a:t> </a:t>
            </a:r>
            <a:r>
              <a:rPr spc="-10" dirty="0"/>
              <a:t>Prediction</a:t>
            </a:r>
            <a:r>
              <a:rPr spc="-25" dirty="0"/>
              <a:t> </a:t>
            </a:r>
            <a:r>
              <a:rPr dirty="0"/>
              <a:t>and</a:t>
            </a:r>
            <a:r>
              <a:rPr spc="-25" dirty="0"/>
              <a:t> </a:t>
            </a:r>
            <a:r>
              <a:rPr dirty="0"/>
              <a:t>Indication</a:t>
            </a:r>
            <a:r>
              <a:rPr spc="-25" dirty="0"/>
              <a:t> </a:t>
            </a:r>
            <a:r>
              <a:rPr dirty="0"/>
              <a:t>using</a:t>
            </a:r>
            <a:r>
              <a:rPr spc="-20" dirty="0"/>
              <a:t> </a:t>
            </a:r>
            <a:r>
              <a:rPr spc="-10" dirty="0"/>
              <a:t>Machine</a:t>
            </a:r>
            <a:r>
              <a:rPr spc="-25" dirty="0"/>
              <a:t> </a:t>
            </a:r>
            <a:r>
              <a:rPr spc="-10" dirty="0"/>
              <a:t>Learning</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4/9/2026</a:t>
            </a:fld>
            <a:endParaRPr lang="en-US"/>
          </a:p>
        </p:txBody>
      </p:sp>
      <p:sp>
        <p:nvSpPr>
          <p:cNvPr id="6" name="Holder 6"/>
          <p:cNvSpPr>
            <a:spLocks noGrp="1"/>
          </p:cNvSpPr>
          <p:nvPr>
            <p:ph type="sldNum" sz="quarter" idx="7"/>
          </p:nvPr>
        </p:nvSpPr>
        <p:spPr>
          <a:xfrm>
            <a:off x="8841453" y="6535037"/>
            <a:ext cx="243753" cy="192097"/>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114935">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mikalhart/TinyGPSPlus"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4" Type="http://schemas.openxmlformats.org/officeDocument/2006/relationships/hyperlink" Target="https://streamlit.io"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143000" y="2229198"/>
            <a:ext cx="6773637" cy="1066318"/>
          </a:xfrm>
          <a:prstGeom prst="rect">
            <a:avLst/>
          </a:prstGeom>
        </p:spPr>
        <p:txBody>
          <a:bodyPr vert="horz" wrap="square" lIns="0" tIns="52705" rIns="0" bIns="0" rtlCol="0">
            <a:spAutoFit/>
          </a:bodyPr>
          <a:lstStyle/>
          <a:p>
            <a:pPr marL="12065" marR="5080" indent="130175" algn="ctr">
              <a:lnSpc>
                <a:spcPts val="2480"/>
              </a:lnSpc>
              <a:spcBef>
                <a:spcPts val="415"/>
              </a:spcBef>
            </a:pPr>
            <a:r>
              <a:rPr lang="en-US" sz="2400" b="1" dirty="0">
                <a:latin typeface="Times New Roman" panose="02020603050405020304" pitchFamily="18" charset="0"/>
                <a:cs typeface="Times New Roman" panose="02020603050405020304" pitchFamily="18" charset="0"/>
              </a:rPr>
              <a:t>Smart Vehicle Accident Detection and Alert System Using IoT and Machine Learning</a:t>
            </a:r>
            <a:endParaRPr lang="en-US" sz="2400" b="1" dirty="0">
              <a:solidFill>
                <a:srgbClr val="C55A11"/>
              </a:solidFill>
              <a:latin typeface="Times New Roman" panose="02020603050405020304" pitchFamily="18" charset="0"/>
              <a:cs typeface="Times New Roman" panose="02020603050405020304" pitchFamily="18" charset="0"/>
            </a:endParaRPr>
          </a:p>
          <a:p>
            <a:pPr marL="12065" marR="5080" indent="130175" algn="ctr">
              <a:lnSpc>
                <a:spcPts val="2480"/>
              </a:lnSpc>
              <a:spcBef>
                <a:spcPts val="415"/>
              </a:spcBef>
            </a:pPr>
            <a:r>
              <a:rPr sz="2400" b="1" dirty="0">
                <a:solidFill>
                  <a:srgbClr val="C55A11"/>
                </a:solidFill>
                <a:latin typeface="Times New Roman"/>
                <a:cs typeface="Times New Roman"/>
              </a:rPr>
              <a:t>Project</a:t>
            </a:r>
            <a:r>
              <a:rPr sz="2400" b="1" spc="-65" dirty="0">
                <a:solidFill>
                  <a:srgbClr val="C55A11"/>
                </a:solidFill>
                <a:latin typeface="Times New Roman"/>
                <a:cs typeface="Times New Roman"/>
              </a:rPr>
              <a:t> </a:t>
            </a:r>
            <a:r>
              <a:rPr sz="2400" b="1" dirty="0">
                <a:solidFill>
                  <a:srgbClr val="C55A11"/>
                </a:solidFill>
                <a:latin typeface="Times New Roman"/>
                <a:cs typeface="Times New Roman"/>
              </a:rPr>
              <a:t>Group</a:t>
            </a:r>
            <a:r>
              <a:rPr sz="2400" b="1" spc="-70" dirty="0">
                <a:solidFill>
                  <a:srgbClr val="C55A11"/>
                </a:solidFill>
                <a:latin typeface="Times New Roman"/>
                <a:cs typeface="Times New Roman"/>
              </a:rPr>
              <a:t> </a:t>
            </a:r>
            <a:r>
              <a:rPr sz="2400" b="1" dirty="0">
                <a:solidFill>
                  <a:srgbClr val="C55A11"/>
                </a:solidFill>
                <a:latin typeface="Times New Roman"/>
                <a:cs typeface="Times New Roman"/>
              </a:rPr>
              <a:t>ID:</a:t>
            </a:r>
            <a:r>
              <a:rPr sz="2400" b="1" spc="-65" dirty="0">
                <a:solidFill>
                  <a:srgbClr val="C55A11"/>
                </a:solidFill>
                <a:latin typeface="Times New Roman"/>
                <a:cs typeface="Times New Roman"/>
              </a:rPr>
              <a:t> </a:t>
            </a:r>
            <a:r>
              <a:rPr sz="2400" b="1" spc="-20" dirty="0">
                <a:solidFill>
                  <a:srgbClr val="C55A11"/>
                </a:solidFill>
                <a:latin typeface="Times New Roman"/>
                <a:cs typeface="Times New Roman"/>
              </a:rPr>
              <a:t>C4_</a:t>
            </a:r>
            <a:r>
              <a:rPr lang="en-IN" sz="2400" b="1" spc="-20" dirty="0">
                <a:solidFill>
                  <a:srgbClr val="C55A11"/>
                </a:solidFill>
                <a:latin typeface="Times New Roman"/>
                <a:cs typeface="Times New Roman"/>
              </a:rPr>
              <a:t>4</a:t>
            </a:r>
            <a:endParaRPr sz="2400" dirty="0">
              <a:latin typeface="Times New Roman"/>
              <a:cs typeface="Times New Roman"/>
            </a:endParaRPr>
          </a:p>
        </p:txBody>
      </p:sp>
      <p:pic>
        <p:nvPicPr>
          <p:cNvPr id="4" name="object 4"/>
          <p:cNvPicPr/>
          <p:nvPr/>
        </p:nvPicPr>
        <p:blipFill>
          <a:blip r:embed="rId2" cstate="print"/>
          <a:stretch>
            <a:fillRect/>
          </a:stretch>
        </p:blipFill>
        <p:spPr>
          <a:xfrm>
            <a:off x="411360" y="373838"/>
            <a:ext cx="1172920" cy="1024603"/>
          </a:xfrm>
          <a:prstGeom prst="rect">
            <a:avLst/>
          </a:prstGeom>
        </p:spPr>
      </p:pic>
      <p:sp>
        <p:nvSpPr>
          <p:cNvPr id="5" name="object 5"/>
          <p:cNvSpPr/>
          <p:nvPr/>
        </p:nvSpPr>
        <p:spPr>
          <a:xfrm>
            <a:off x="0" y="6469098"/>
            <a:ext cx="9144000" cy="387985"/>
          </a:xfrm>
          <a:custGeom>
            <a:avLst/>
            <a:gdLst/>
            <a:ahLst/>
            <a:cxnLst/>
            <a:rect l="l" t="t" r="r" b="b"/>
            <a:pathLst>
              <a:path w="9144000" h="387984">
                <a:moveTo>
                  <a:pt x="9143999" y="387599"/>
                </a:moveTo>
                <a:lnTo>
                  <a:pt x="0" y="387599"/>
                </a:lnTo>
                <a:lnTo>
                  <a:pt x="0" y="0"/>
                </a:lnTo>
                <a:lnTo>
                  <a:pt x="9143999" y="0"/>
                </a:lnTo>
                <a:lnTo>
                  <a:pt x="9143999" y="387599"/>
                </a:lnTo>
                <a:close/>
              </a:path>
            </a:pathLst>
          </a:custGeom>
          <a:solidFill>
            <a:srgbClr val="002060"/>
          </a:solidFill>
        </p:spPr>
        <p:txBody>
          <a:bodyPr wrap="square" lIns="0" tIns="0" rIns="0" bIns="0" rtlCol="0"/>
          <a:lstStyle/>
          <a:p>
            <a:endParaRPr/>
          </a:p>
        </p:txBody>
      </p:sp>
      <p:sp>
        <p:nvSpPr>
          <p:cNvPr id="6" name="object 6"/>
          <p:cNvSpPr txBox="1"/>
          <p:nvPr/>
        </p:nvSpPr>
        <p:spPr>
          <a:xfrm>
            <a:off x="2318084" y="6514342"/>
            <a:ext cx="450469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imes New Roman"/>
                <a:cs typeface="Times New Roman"/>
              </a:rPr>
              <a:t>Pimpri</a:t>
            </a:r>
            <a:r>
              <a:rPr sz="1800" spc="-65" dirty="0">
                <a:solidFill>
                  <a:srgbClr val="FFFFFF"/>
                </a:solidFill>
                <a:latin typeface="Times New Roman"/>
                <a:cs typeface="Times New Roman"/>
              </a:rPr>
              <a:t> </a:t>
            </a:r>
            <a:r>
              <a:rPr sz="1800" dirty="0">
                <a:solidFill>
                  <a:srgbClr val="FFFFFF"/>
                </a:solidFill>
                <a:latin typeface="Times New Roman"/>
                <a:cs typeface="Times New Roman"/>
              </a:rPr>
              <a:t>Chinchwad</a:t>
            </a:r>
            <a:r>
              <a:rPr sz="1800" spc="-65" dirty="0">
                <a:solidFill>
                  <a:srgbClr val="FFFFFF"/>
                </a:solidFill>
                <a:latin typeface="Times New Roman"/>
                <a:cs typeface="Times New Roman"/>
              </a:rPr>
              <a:t> </a:t>
            </a:r>
            <a:r>
              <a:rPr sz="1800" dirty="0">
                <a:solidFill>
                  <a:srgbClr val="FFFFFF"/>
                </a:solidFill>
                <a:latin typeface="Times New Roman"/>
                <a:cs typeface="Times New Roman"/>
              </a:rPr>
              <a:t>College</a:t>
            </a:r>
            <a:r>
              <a:rPr sz="1800" spc="-60" dirty="0">
                <a:solidFill>
                  <a:srgbClr val="FFFFFF"/>
                </a:solidFill>
                <a:latin typeface="Times New Roman"/>
                <a:cs typeface="Times New Roman"/>
              </a:rPr>
              <a:t> </a:t>
            </a:r>
            <a:r>
              <a:rPr sz="1800" dirty="0">
                <a:solidFill>
                  <a:srgbClr val="FFFFFF"/>
                </a:solidFill>
                <a:latin typeface="Times New Roman"/>
                <a:cs typeface="Times New Roman"/>
              </a:rPr>
              <a:t>of</a:t>
            </a:r>
            <a:r>
              <a:rPr sz="1800" spc="-65" dirty="0">
                <a:solidFill>
                  <a:srgbClr val="FFFFFF"/>
                </a:solidFill>
                <a:latin typeface="Times New Roman"/>
                <a:cs typeface="Times New Roman"/>
              </a:rPr>
              <a:t> </a:t>
            </a:r>
            <a:r>
              <a:rPr sz="1800" dirty="0">
                <a:solidFill>
                  <a:srgbClr val="FFFFFF"/>
                </a:solidFill>
                <a:latin typeface="Times New Roman"/>
                <a:cs typeface="Times New Roman"/>
              </a:rPr>
              <a:t>Engineering,</a:t>
            </a:r>
            <a:r>
              <a:rPr sz="1800" spc="-60" dirty="0">
                <a:solidFill>
                  <a:srgbClr val="FFFFFF"/>
                </a:solidFill>
                <a:latin typeface="Times New Roman"/>
                <a:cs typeface="Times New Roman"/>
              </a:rPr>
              <a:t> </a:t>
            </a:r>
            <a:r>
              <a:rPr sz="1800" spc="-20" dirty="0">
                <a:solidFill>
                  <a:srgbClr val="FFFFFF"/>
                </a:solidFill>
                <a:latin typeface="Times New Roman"/>
                <a:cs typeface="Times New Roman"/>
              </a:rPr>
              <a:t>Pune</a:t>
            </a:r>
            <a:endParaRPr sz="1800">
              <a:latin typeface="Times New Roman"/>
              <a:cs typeface="Times New Roman"/>
            </a:endParaRPr>
          </a:p>
        </p:txBody>
      </p:sp>
      <p:sp>
        <p:nvSpPr>
          <p:cNvPr id="7" name="object 7"/>
          <p:cNvSpPr txBox="1"/>
          <p:nvPr/>
        </p:nvSpPr>
        <p:spPr>
          <a:xfrm>
            <a:off x="3535407" y="237873"/>
            <a:ext cx="3597275" cy="314960"/>
          </a:xfrm>
          <a:prstGeom prst="rect">
            <a:avLst/>
          </a:prstGeom>
        </p:spPr>
        <p:txBody>
          <a:bodyPr vert="horz" wrap="square" lIns="0" tIns="12700" rIns="0" bIns="0" rtlCol="0">
            <a:spAutoFit/>
          </a:bodyPr>
          <a:lstStyle/>
          <a:p>
            <a:pPr marL="12700">
              <a:lnSpc>
                <a:spcPct val="100000"/>
              </a:lnSpc>
              <a:spcBef>
                <a:spcPts val="100"/>
              </a:spcBef>
            </a:pPr>
            <a:r>
              <a:rPr sz="1900" dirty="0">
                <a:solidFill>
                  <a:srgbClr val="1E4E78"/>
                </a:solidFill>
                <a:latin typeface="Times New Roman"/>
                <a:cs typeface="Times New Roman"/>
              </a:rPr>
              <a:t>Pimpri</a:t>
            </a:r>
            <a:r>
              <a:rPr sz="1900" spc="-35" dirty="0">
                <a:solidFill>
                  <a:srgbClr val="1E4E78"/>
                </a:solidFill>
                <a:latin typeface="Times New Roman"/>
                <a:cs typeface="Times New Roman"/>
              </a:rPr>
              <a:t> </a:t>
            </a:r>
            <a:r>
              <a:rPr sz="1900" dirty="0">
                <a:solidFill>
                  <a:srgbClr val="1E4E78"/>
                </a:solidFill>
                <a:latin typeface="Times New Roman"/>
                <a:cs typeface="Times New Roman"/>
              </a:rPr>
              <a:t>Chinchwad</a:t>
            </a:r>
            <a:r>
              <a:rPr sz="1900" spc="-25" dirty="0">
                <a:solidFill>
                  <a:srgbClr val="1E4E78"/>
                </a:solidFill>
                <a:latin typeface="Times New Roman"/>
                <a:cs typeface="Times New Roman"/>
              </a:rPr>
              <a:t> </a:t>
            </a:r>
            <a:r>
              <a:rPr sz="1900" dirty="0">
                <a:solidFill>
                  <a:srgbClr val="1E4E78"/>
                </a:solidFill>
                <a:latin typeface="Times New Roman"/>
                <a:cs typeface="Times New Roman"/>
              </a:rPr>
              <a:t>Education</a:t>
            </a:r>
            <a:r>
              <a:rPr sz="1900" spc="-60" dirty="0">
                <a:solidFill>
                  <a:srgbClr val="1E4E78"/>
                </a:solidFill>
                <a:latin typeface="Times New Roman"/>
                <a:cs typeface="Times New Roman"/>
              </a:rPr>
              <a:t> </a:t>
            </a:r>
            <a:r>
              <a:rPr sz="1900" spc="-10" dirty="0">
                <a:solidFill>
                  <a:srgbClr val="1E4E78"/>
                </a:solidFill>
                <a:latin typeface="Times New Roman"/>
                <a:cs typeface="Times New Roman"/>
              </a:rPr>
              <a:t>Trust’s</a:t>
            </a:r>
            <a:endParaRPr sz="1900">
              <a:latin typeface="Times New Roman"/>
              <a:cs typeface="Times New Roman"/>
            </a:endParaRPr>
          </a:p>
        </p:txBody>
      </p:sp>
      <p:sp>
        <p:nvSpPr>
          <p:cNvPr id="8" name="object 8"/>
          <p:cNvSpPr txBox="1">
            <a:spLocks noGrp="1"/>
          </p:cNvSpPr>
          <p:nvPr>
            <p:ph type="title"/>
          </p:nvPr>
        </p:nvSpPr>
        <p:spPr>
          <a:xfrm>
            <a:off x="1871192" y="521844"/>
            <a:ext cx="6921500" cy="482600"/>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1E4E78"/>
                </a:solidFill>
                <a:latin typeface="Times New Roman"/>
                <a:cs typeface="Times New Roman"/>
              </a:rPr>
              <a:t>Pimpri</a:t>
            </a:r>
            <a:r>
              <a:rPr sz="3000" b="1" spc="-85" dirty="0">
                <a:solidFill>
                  <a:srgbClr val="1E4E78"/>
                </a:solidFill>
                <a:latin typeface="Times New Roman"/>
                <a:cs typeface="Times New Roman"/>
              </a:rPr>
              <a:t> </a:t>
            </a:r>
            <a:r>
              <a:rPr sz="3000" b="1" dirty="0">
                <a:solidFill>
                  <a:srgbClr val="1E4E78"/>
                </a:solidFill>
                <a:latin typeface="Times New Roman"/>
                <a:cs typeface="Times New Roman"/>
              </a:rPr>
              <a:t>Chinchwad</a:t>
            </a:r>
            <a:r>
              <a:rPr sz="3000" b="1" spc="-80" dirty="0">
                <a:solidFill>
                  <a:srgbClr val="1E4E78"/>
                </a:solidFill>
                <a:latin typeface="Times New Roman"/>
                <a:cs typeface="Times New Roman"/>
              </a:rPr>
              <a:t> </a:t>
            </a:r>
            <a:r>
              <a:rPr sz="3000" b="1" dirty="0">
                <a:solidFill>
                  <a:srgbClr val="1E4E78"/>
                </a:solidFill>
                <a:latin typeface="Times New Roman"/>
                <a:cs typeface="Times New Roman"/>
              </a:rPr>
              <a:t>College</a:t>
            </a:r>
            <a:r>
              <a:rPr sz="3000" b="1" spc="-80" dirty="0">
                <a:solidFill>
                  <a:srgbClr val="1E4E78"/>
                </a:solidFill>
                <a:latin typeface="Times New Roman"/>
                <a:cs typeface="Times New Roman"/>
              </a:rPr>
              <a:t> </a:t>
            </a:r>
            <a:r>
              <a:rPr sz="3000" b="1" dirty="0">
                <a:solidFill>
                  <a:srgbClr val="1E4E78"/>
                </a:solidFill>
                <a:latin typeface="Times New Roman"/>
                <a:cs typeface="Times New Roman"/>
              </a:rPr>
              <a:t>of</a:t>
            </a:r>
            <a:r>
              <a:rPr sz="3000" b="1" spc="-80" dirty="0">
                <a:solidFill>
                  <a:srgbClr val="1E4E78"/>
                </a:solidFill>
                <a:latin typeface="Times New Roman"/>
                <a:cs typeface="Times New Roman"/>
              </a:rPr>
              <a:t> </a:t>
            </a:r>
            <a:r>
              <a:rPr sz="3000" b="1" spc="-10" dirty="0">
                <a:solidFill>
                  <a:srgbClr val="1E4E78"/>
                </a:solidFill>
                <a:latin typeface="Times New Roman"/>
                <a:cs typeface="Times New Roman"/>
              </a:rPr>
              <a:t>Engineering</a:t>
            </a:r>
            <a:endParaRPr sz="3000">
              <a:latin typeface="Times New Roman"/>
              <a:cs typeface="Times New Roman"/>
            </a:endParaRPr>
          </a:p>
        </p:txBody>
      </p:sp>
      <p:sp>
        <p:nvSpPr>
          <p:cNvPr id="9" name="object 9"/>
          <p:cNvSpPr txBox="1"/>
          <p:nvPr/>
        </p:nvSpPr>
        <p:spPr>
          <a:xfrm>
            <a:off x="2304393" y="999873"/>
            <a:ext cx="6057900" cy="696595"/>
          </a:xfrm>
          <a:prstGeom prst="rect">
            <a:avLst/>
          </a:prstGeom>
        </p:spPr>
        <p:txBody>
          <a:bodyPr vert="horz" wrap="square" lIns="0" tIns="9525" rIns="0" bIns="0" rtlCol="0">
            <a:spAutoFit/>
          </a:bodyPr>
          <a:lstStyle/>
          <a:p>
            <a:pPr marL="1886585" marR="984250" indent="-762635">
              <a:lnSpc>
                <a:spcPct val="101499"/>
              </a:lnSpc>
              <a:spcBef>
                <a:spcPts val="75"/>
              </a:spcBef>
            </a:pPr>
            <a:r>
              <a:rPr sz="1300" b="1" spc="-10" dirty="0">
                <a:solidFill>
                  <a:srgbClr val="002060"/>
                </a:solidFill>
                <a:latin typeface="Times New Roman"/>
                <a:cs typeface="Times New Roman"/>
              </a:rPr>
              <a:t>Affiliated</a:t>
            </a:r>
            <a:r>
              <a:rPr sz="1300" b="1" spc="-40" dirty="0">
                <a:solidFill>
                  <a:srgbClr val="002060"/>
                </a:solidFill>
                <a:latin typeface="Times New Roman"/>
                <a:cs typeface="Times New Roman"/>
              </a:rPr>
              <a:t> </a:t>
            </a:r>
            <a:r>
              <a:rPr sz="1300" b="1" dirty="0">
                <a:solidFill>
                  <a:srgbClr val="002060"/>
                </a:solidFill>
                <a:latin typeface="Times New Roman"/>
                <a:cs typeface="Times New Roman"/>
              </a:rPr>
              <a:t>to</a:t>
            </a:r>
            <a:r>
              <a:rPr sz="1300" b="1" spc="-30" dirty="0">
                <a:solidFill>
                  <a:srgbClr val="002060"/>
                </a:solidFill>
                <a:latin typeface="Times New Roman"/>
                <a:cs typeface="Times New Roman"/>
              </a:rPr>
              <a:t> </a:t>
            </a:r>
            <a:r>
              <a:rPr sz="1300" b="1" spc="-10" dirty="0">
                <a:solidFill>
                  <a:srgbClr val="002060"/>
                </a:solidFill>
                <a:latin typeface="Times New Roman"/>
                <a:cs typeface="Times New Roman"/>
              </a:rPr>
              <a:t>Savitribai</a:t>
            </a:r>
            <a:r>
              <a:rPr sz="1300" b="1" spc="-40" dirty="0">
                <a:solidFill>
                  <a:srgbClr val="002060"/>
                </a:solidFill>
                <a:latin typeface="Times New Roman"/>
                <a:cs typeface="Times New Roman"/>
              </a:rPr>
              <a:t> </a:t>
            </a:r>
            <a:r>
              <a:rPr sz="1300" b="1" dirty="0">
                <a:solidFill>
                  <a:srgbClr val="002060"/>
                </a:solidFill>
                <a:latin typeface="Times New Roman"/>
                <a:cs typeface="Times New Roman"/>
              </a:rPr>
              <a:t>Phule</a:t>
            </a:r>
            <a:r>
              <a:rPr sz="1300" b="1" spc="-35" dirty="0">
                <a:solidFill>
                  <a:srgbClr val="002060"/>
                </a:solidFill>
                <a:latin typeface="Times New Roman"/>
                <a:cs typeface="Times New Roman"/>
              </a:rPr>
              <a:t> </a:t>
            </a:r>
            <a:r>
              <a:rPr sz="1300" b="1" dirty="0">
                <a:solidFill>
                  <a:srgbClr val="002060"/>
                </a:solidFill>
                <a:latin typeface="Times New Roman"/>
                <a:cs typeface="Times New Roman"/>
              </a:rPr>
              <a:t>Pune</a:t>
            </a:r>
            <a:r>
              <a:rPr sz="1300" b="1" spc="-35" dirty="0">
                <a:solidFill>
                  <a:srgbClr val="002060"/>
                </a:solidFill>
                <a:latin typeface="Times New Roman"/>
                <a:cs typeface="Times New Roman"/>
              </a:rPr>
              <a:t> </a:t>
            </a:r>
            <a:r>
              <a:rPr sz="1300" b="1" dirty="0">
                <a:solidFill>
                  <a:srgbClr val="002060"/>
                </a:solidFill>
                <a:latin typeface="Times New Roman"/>
                <a:cs typeface="Times New Roman"/>
              </a:rPr>
              <a:t>University,</a:t>
            </a:r>
            <a:r>
              <a:rPr sz="1300" b="1" spc="-35" dirty="0">
                <a:solidFill>
                  <a:srgbClr val="002060"/>
                </a:solidFill>
                <a:latin typeface="Times New Roman"/>
                <a:cs typeface="Times New Roman"/>
              </a:rPr>
              <a:t> </a:t>
            </a:r>
            <a:r>
              <a:rPr sz="1300" b="1" dirty="0">
                <a:solidFill>
                  <a:srgbClr val="002060"/>
                </a:solidFill>
                <a:latin typeface="Times New Roman"/>
                <a:cs typeface="Times New Roman"/>
              </a:rPr>
              <a:t>Pune</a:t>
            </a:r>
            <a:r>
              <a:rPr sz="1300" b="1" spc="-35" dirty="0">
                <a:solidFill>
                  <a:srgbClr val="002060"/>
                </a:solidFill>
                <a:latin typeface="Times New Roman"/>
                <a:cs typeface="Times New Roman"/>
              </a:rPr>
              <a:t> </a:t>
            </a:r>
            <a:r>
              <a:rPr sz="1300" b="1" spc="-25" dirty="0">
                <a:solidFill>
                  <a:srgbClr val="002060"/>
                </a:solidFill>
                <a:latin typeface="Times New Roman"/>
                <a:cs typeface="Times New Roman"/>
              </a:rPr>
              <a:t>and </a:t>
            </a:r>
            <a:r>
              <a:rPr sz="1300" b="1" spc="-10" dirty="0">
                <a:solidFill>
                  <a:srgbClr val="002060"/>
                </a:solidFill>
                <a:latin typeface="Times New Roman"/>
                <a:cs typeface="Times New Roman"/>
              </a:rPr>
              <a:t>Approved by</a:t>
            </a:r>
            <a:r>
              <a:rPr sz="1300" b="1" spc="-75" dirty="0">
                <a:solidFill>
                  <a:srgbClr val="002060"/>
                </a:solidFill>
                <a:latin typeface="Times New Roman"/>
                <a:cs typeface="Times New Roman"/>
              </a:rPr>
              <a:t> </a:t>
            </a:r>
            <a:r>
              <a:rPr sz="1300" b="1" dirty="0">
                <a:solidFill>
                  <a:srgbClr val="002060"/>
                </a:solidFill>
                <a:latin typeface="Times New Roman"/>
                <a:cs typeface="Times New Roman"/>
              </a:rPr>
              <a:t>AICTE,</a:t>
            </a:r>
            <a:r>
              <a:rPr sz="1300" b="1" spc="-5" dirty="0">
                <a:solidFill>
                  <a:srgbClr val="002060"/>
                </a:solidFill>
                <a:latin typeface="Times New Roman"/>
                <a:cs typeface="Times New Roman"/>
              </a:rPr>
              <a:t> </a:t>
            </a:r>
            <a:r>
              <a:rPr sz="1300" b="1" dirty="0">
                <a:solidFill>
                  <a:srgbClr val="002060"/>
                </a:solidFill>
                <a:latin typeface="Times New Roman"/>
                <a:cs typeface="Times New Roman"/>
              </a:rPr>
              <a:t>New</a:t>
            </a:r>
            <a:r>
              <a:rPr sz="1300" b="1" spc="-5" dirty="0">
                <a:solidFill>
                  <a:srgbClr val="002060"/>
                </a:solidFill>
                <a:latin typeface="Times New Roman"/>
                <a:cs typeface="Times New Roman"/>
              </a:rPr>
              <a:t> </a:t>
            </a:r>
            <a:r>
              <a:rPr sz="1300" b="1" spc="-10" dirty="0">
                <a:solidFill>
                  <a:srgbClr val="002060"/>
                </a:solidFill>
                <a:latin typeface="Times New Roman"/>
                <a:cs typeface="Times New Roman"/>
              </a:rPr>
              <a:t>Delhi</a:t>
            </a:r>
            <a:endParaRPr sz="1300">
              <a:latin typeface="Times New Roman"/>
              <a:cs typeface="Times New Roman"/>
            </a:endParaRPr>
          </a:p>
          <a:p>
            <a:pPr marL="12700">
              <a:lnSpc>
                <a:spcPts val="2140"/>
              </a:lnSpc>
            </a:pPr>
            <a:r>
              <a:rPr sz="1800" b="1" dirty="0">
                <a:solidFill>
                  <a:srgbClr val="002060"/>
                </a:solidFill>
                <a:latin typeface="Times New Roman"/>
                <a:cs typeface="Times New Roman"/>
              </a:rPr>
              <a:t>Department</a:t>
            </a:r>
            <a:r>
              <a:rPr sz="1800" b="1" spc="-35" dirty="0">
                <a:solidFill>
                  <a:srgbClr val="002060"/>
                </a:solidFill>
                <a:latin typeface="Times New Roman"/>
                <a:cs typeface="Times New Roman"/>
              </a:rPr>
              <a:t> </a:t>
            </a:r>
            <a:r>
              <a:rPr sz="1800" b="1" dirty="0">
                <a:solidFill>
                  <a:srgbClr val="002060"/>
                </a:solidFill>
                <a:latin typeface="Times New Roman"/>
                <a:cs typeface="Times New Roman"/>
              </a:rPr>
              <a:t>of</a:t>
            </a:r>
            <a:r>
              <a:rPr sz="1800" b="1" spc="-20" dirty="0">
                <a:solidFill>
                  <a:srgbClr val="002060"/>
                </a:solidFill>
                <a:latin typeface="Times New Roman"/>
                <a:cs typeface="Times New Roman"/>
              </a:rPr>
              <a:t> </a:t>
            </a:r>
            <a:r>
              <a:rPr sz="1800" b="1" spc="-10" dirty="0">
                <a:solidFill>
                  <a:srgbClr val="002060"/>
                </a:solidFill>
                <a:latin typeface="Times New Roman"/>
                <a:cs typeface="Times New Roman"/>
              </a:rPr>
              <a:t>Electronics</a:t>
            </a:r>
            <a:r>
              <a:rPr sz="1800" b="1" spc="-25" dirty="0">
                <a:solidFill>
                  <a:srgbClr val="002060"/>
                </a:solidFill>
                <a:latin typeface="Times New Roman"/>
                <a:cs typeface="Times New Roman"/>
              </a:rPr>
              <a:t> </a:t>
            </a:r>
            <a:r>
              <a:rPr sz="1800" b="1" dirty="0">
                <a:solidFill>
                  <a:srgbClr val="002060"/>
                </a:solidFill>
                <a:latin typeface="Times New Roman"/>
                <a:cs typeface="Times New Roman"/>
              </a:rPr>
              <a:t>&amp;</a:t>
            </a:r>
            <a:r>
              <a:rPr sz="1800" b="1" spc="-50" dirty="0">
                <a:solidFill>
                  <a:srgbClr val="002060"/>
                </a:solidFill>
                <a:latin typeface="Times New Roman"/>
                <a:cs typeface="Times New Roman"/>
              </a:rPr>
              <a:t> </a:t>
            </a:r>
            <a:r>
              <a:rPr sz="1800" b="1" spc="-25" dirty="0">
                <a:solidFill>
                  <a:srgbClr val="002060"/>
                </a:solidFill>
                <a:latin typeface="Times New Roman"/>
                <a:cs typeface="Times New Roman"/>
              </a:rPr>
              <a:t>Telecommunication </a:t>
            </a:r>
            <a:r>
              <a:rPr sz="1800" b="1" spc="-10" dirty="0">
                <a:solidFill>
                  <a:srgbClr val="002060"/>
                </a:solidFill>
                <a:latin typeface="Times New Roman"/>
                <a:cs typeface="Times New Roman"/>
              </a:rPr>
              <a:t>Engineering</a:t>
            </a:r>
            <a:endParaRPr sz="1800">
              <a:latin typeface="Times New Roman"/>
              <a:cs typeface="Times New Roman"/>
            </a:endParaRPr>
          </a:p>
        </p:txBody>
      </p:sp>
      <p:sp>
        <p:nvSpPr>
          <p:cNvPr id="10" name="object 10"/>
          <p:cNvSpPr txBox="1"/>
          <p:nvPr/>
        </p:nvSpPr>
        <p:spPr>
          <a:xfrm>
            <a:off x="762000" y="4200591"/>
            <a:ext cx="19183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Group</a:t>
            </a:r>
            <a:r>
              <a:rPr sz="2000" b="1" spc="-95" dirty="0">
                <a:latin typeface="Times New Roman"/>
                <a:cs typeface="Times New Roman"/>
              </a:rPr>
              <a:t> </a:t>
            </a:r>
            <a:r>
              <a:rPr sz="2000" b="1" spc="-10" dirty="0">
                <a:latin typeface="Times New Roman"/>
                <a:cs typeface="Times New Roman"/>
              </a:rPr>
              <a:t>Members:</a:t>
            </a:r>
            <a:endParaRPr sz="2000" dirty="0">
              <a:latin typeface="Times New Roman"/>
              <a:cs typeface="Times New Roman"/>
            </a:endParaRPr>
          </a:p>
        </p:txBody>
      </p:sp>
      <p:sp>
        <p:nvSpPr>
          <p:cNvPr id="11" name="object 11"/>
          <p:cNvSpPr txBox="1"/>
          <p:nvPr/>
        </p:nvSpPr>
        <p:spPr>
          <a:xfrm>
            <a:off x="609600" y="4707331"/>
            <a:ext cx="3154800" cy="641201"/>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124B2E03</a:t>
            </a:r>
            <a:r>
              <a:rPr lang="en-IN" sz="2000" dirty="0">
                <a:latin typeface="Times New Roman"/>
                <a:cs typeface="Times New Roman"/>
              </a:rPr>
              <a:t>0</a:t>
            </a:r>
            <a:r>
              <a:rPr sz="2000" spc="-75" dirty="0">
                <a:latin typeface="Times New Roman"/>
                <a:cs typeface="Times New Roman"/>
              </a:rPr>
              <a:t> </a:t>
            </a:r>
            <a:r>
              <a:rPr lang="en-IN" sz="2000" spc="-75" dirty="0">
                <a:latin typeface="Times New Roman"/>
                <a:cs typeface="Times New Roman"/>
              </a:rPr>
              <a:t>Vivek Deshmukh</a:t>
            </a:r>
          </a:p>
          <a:p>
            <a:pPr marL="12700">
              <a:lnSpc>
                <a:spcPct val="100000"/>
              </a:lnSpc>
              <a:spcBef>
                <a:spcPts val="100"/>
              </a:spcBef>
            </a:pPr>
            <a:r>
              <a:rPr lang="en-IN" sz="2000" dirty="0">
                <a:latin typeface="Times New Roman"/>
                <a:cs typeface="Times New Roman"/>
              </a:rPr>
              <a:t>124B2E038 Vipul Jadhav</a:t>
            </a:r>
            <a:endParaRPr sz="2000" dirty="0">
              <a:latin typeface="Times New Roman"/>
              <a:cs typeface="Times New Roman"/>
            </a:endParaRPr>
          </a:p>
        </p:txBody>
      </p:sp>
      <p:sp>
        <p:nvSpPr>
          <p:cNvPr id="12" name="object 12"/>
          <p:cNvSpPr txBox="1"/>
          <p:nvPr/>
        </p:nvSpPr>
        <p:spPr>
          <a:xfrm>
            <a:off x="6095775" y="4201040"/>
            <a:ext cx="162179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Project</a:t>
            </a:r>
            <a:r>
              <a:rPr sz="2000" b="1" spc="-70" dirty="0">
                <a:latin typeface="Times New Roman"/>
                <a:cs typeface="Times New Roman"/>
              </a:rPr>
              <a:t> </a:t>
            </a:r>
            <a:r>
              <a:rPr sz="2000" b="1" spc="-10" dirty="0">
                <a:latin typeface="Times New Roman"/>
                <a:cs typeface="Times New Roman"/>
              </a:rPr>
              <a:t>Guide:</a:t>
            </a:r>
            <a:endParaRPr sz="2000" dirty="0">
              <a:latin typeface="Times New Roman"/>
              <a:cs typeface="Times New Roman"/>
            </a:endParaRPr>
          </a:p>
        </p:txBody>
      </p:sp>
      <p:sp>
        <p:nvSpPr>
          <p:cNvPr id="13" name="object 13"/>
          <p:cNvSpPr txBox="1"/>
          <p:nvPr/>
        </p:nvSpPr>
        <p:spPr>
          <a:xfrm>
            <a:off x="5896702" y="4697732"/>
            <a:ext cx="2019935" cy="330200"/>
          </a:xfrm>
          <a:prstGeom prst="rect">
            <a:avLst/>
          </a:prstGeom>
        </p:spPr>
        <p:txBody>
          <a:bodyPr vert="horz" wrap="square" lIns="0" tIns="12700" rIns="0" bIns="0" rtlCol="0">
            <a:spAutoFit/>
          </a:bodyPr>
          <a:lstStyle/>
          <a:p>
            <a:pPr marL="12700">
              <a:lnSpc>
                <a:spcPct val="100000"/>
              </a:lnSpc>
              <a:spcBef>
                <a:spcPts val="100"/>
              </a:spcBef>
            </a:pPr>
            <a:r>
              <a:rPr sz="2000" spc="-45" dirty="0">
                <a:latin typeface="Times New Roman"/>
                <a:cs typeface="Times New Roman"/>
              </a:rPr>
              <a:t>Dr.</a:t>
            </a:r>
            <a:r>
              <a:rPr sz="2000" spc="-110" dirty="0">
                <a:latin typeface="Times New Roman"/>
                <a:cs typeface="Times New Roman"/>
              </a:rPr>
              <a:t> </a:t>
            </a:r>
            <a:r>
              <a:rPr sz="2000" dirty="0">
                <a:latin typeface="Times New Roman"/>
                <a:cs typeface="Times New Roman"/>
              </a:rPr>
              <a:t>Ashwini</a:t>
            </a:r>
            <a:r>
              <a:rPr sz="2000" spc="-25" dirty="0">
                <a:latin typeface="Times New Roman"/>
                <a:cs typeface="Times New Roman"/>
              </a:rPr>
              <a:t> </a:t>
            </a:r>
            <a:r>
              <a:rPr sz="2000" spc="-10" dirty="0">
                <a:latin typeface="Times New Roman"/>
                <a:cs typeface="Times New Roman"/>
              </a:rPr>
              <a:t>Shinde</a:t>
            </a:r>
            <a:endParaRPr sz="2000" dirty="0">
              <a:latin typeface="Times New Roman"/>
              <a:cs typeface="Times New Roman"/>
            </a:endParaRPr>
          </a:p>
        </p:txBody>
      </p:sp>
      <p:sp>
        <p:nvSpPr>
          <p:cNvPr id="14" name="object 5">
            <a:extLst>
              <a:ext uri="{FF2B5EF4-FFF2-40B4-BE49-F238E27FC236}">
                <a16:creationId xmlns:a16="http://schemas.microsoft.com/office/drawing/2014/main" id="{E6D57359-2EC5-0950-24E9-1D9C4E2E8B94}"/>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85106" y="6438933"/>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3" name="object 3"/>
          <p:cNvSpPr txBox="1">
            <a:spLocks noGrp="1"/>
          </p:cNvSpPr>
          <p:nvPr>
            <p:ph type="title"/>
          </p:nvPr>
        </p:nvSpPr>
        <p:spPr>
          <a:xfrm>
            <a:off x="570074" y="236081"/>
            <a:ext cx="8003851" cy="575549"/>
          </a:xfrm>
          <a:prstGeom prst="rect">
            <a:avLst/>
          </a:prstGeom>
        </p:spPr>
        <p:txBody>
          <a:bodyPr vert="horz" wrap="square" lIns="0" tIns="74683" rIns="0" bIns="0" rtlCol="0">
            <a:spAutoFit/>
          </a:bodyPr>
          <a:lstStyle/>
          <a:p>
            <a:pPr marL="12700">
              <a:lnSpc>
                <a:spcPct val="100000"/>
              </a:lnSpc>
              <a:spcBef>
                <a:spcPts val="125"/>
              </a:spcBef>
            </a:pPr>
            <a:r>
              <a:rPr b="1" dirty="0"/>
              <a:t>Outline</a:t>
            </a:r>
            <a:r>
              <a:rPr b="1" spc="-15" dirty="0"/>
              <a:t> </a:t>
            </a:r>
            <a:r>
              <a:rPr b="1" dirty="0"/>
              <a:t>of</a:t>
            </a:r>
            <a:r>
              <a:rPr b="1" spc="-10" dirty="0"/>
              <a:t> Project</a:t>
            </a:r>
          </a:p>
        </p:txBody>
      </p:sp>
      <p:sp>
        <p:nvSpPr>
          <p:cNvPr id="4" name="object 4"/>
          <p:cNvSpPr txBox="1"/>
          <p:nvPr/>
        </p:nvSpPr>
        <p:spPr>
          <a:xfrm>
            <a:off x="570074" y="1261814"/>
            <a:ext cx="5073015" cy="4726935"/>
          </a:xfrm>
          <a:prstGeom prst="rect">
            <a:avLst/>
          </a:prstGeom>
        </p:spPr>
        <p:txBody>
          <a:bodyPr vert="horz" wrap="square" lIns="0" tIns="96520" rIns="0" bIns="0" rtlCol="0">
            <a:spAutoFit/>
          </a:bodyPr>
          <a:lstStyle/>
          <a:p>
            <a:pPr marL="136525" indent="-133350">
              <a:lnSpc>
                <a:spcPct val="100000"/>
              </a:lnSpc>
              <a:spcBef>
                <a:spcPts val="760"/>
              </a:spcBef>
              <a:buSzPct val="96428"/>
              <a:buChar char="•"/>
              <a:tabLst>
                <a:tab pos="136525" algn="l"/>
              </a:tabLst>
            </a:pPr>
            <a:r>
              <a:rPr sz="2400" b="1" spc="-10" dirty="0">
                <a:latin typeface="Times New Roman"/>
                <a:cs typeface="Times New Roman"/>
              </a:rPr>
              <a:t>Introduction</a:t>
            </a:r>
            <a:endParaRPr sz="2400" b="1" dirty="0">
              <a:latin typeface="Times New Roman"/>
              <a:cs typeface="Times New Roman"/>
            </a:endParaRPr>
          </a:p>
          <a:p>
            <a:pPr marL="136525" indent="-133350">
              <a:lnSpc>
                <a:spcPct val="100000"/>
              </a:lnSpc>
              <a:spcBef>
                <a:spcPts val="665"/>
              </a:spcBef>
              <a:buSzPct val="96428"/>
              <a:buChar char="•"/>
              <a:tabLst>
                <a:tab pos="136525" algn="l"/>
              </a:tabLst>
            </a:pPr>
            <a:r>
              <a:rPr sz="2400" b="1" dirty="0">
                <a:latin typeface="Times New Roman"/>
                <a:cs typeface="Times New Roman"/>
              </a:rPr>
              <a:t>Literature</a:t>
            </a:r>
            <a:r>
              <a:rPr sz="2400" b="1" spc="-50" dirty="0">
                <a:latin typeface="Times New Roman"/>
                <a:cs typeface="Times New Roman"/>
              </a:rPr>
              <a:t> </a:t>
            </a:r>
            <a:r>
              <a:rPr sz="2400" b="1" spc="-10" dirty="0">
                <a:latin typeface="Times New Roman"/>
                <a:cs typeface="Times New Roman"/>
              </a:rPr>
              <a:t>Review</a:t>
            </a:r>
            <a:endParaRPr sz="2400" b="1" dirty="0">
              <a:latin typeface="Times New Roman"/>
              <a:cs typeface="Times New Roman"/>
            </a:endParaRPr>
          </a:p>
          <a:p>
            <a:pPr marL="136525" indent="-133350">
              <a:lnSpc>
                <a:spcPct val="100000"/>
              </a:lnSpc>
              <a:spcBef>
                <a:spcPts val="665"/>
              </a:spcBef>
              <a:buSzPct val="96428"/>
              <a:buChar char="•"/>
              <a:tabLst>
                <a:tab pos="136525" algn="l"/>
              </a:tabLst>
            </a:pPr>
            <a:r>
              <a:rPr sz="2400" b="1" dirty="0">
                <a:latin typeface="Times New Roman"/>
                <a:cs typeface="Times New Roman"/>
              </a:rPr>
              <a:t>Need</a:t>
            </a:r>
            <a:r>
              <a:rPr sz="2400" b="1" spc="-15" dirty="0">
                <a:latin typeface="Times New Roman"/>
                <a:cs typeface="Times New Roman"/>
              </a:rPr>
              <a:t> </a:t>
            </a:r>
            <a:r>
              <a:rPr sz="2400" b="1" dirty="0">
                <a:latin typeface="Times New Roman"/>
                <a:cs typeface="Times New Roman"/>
              </a:rPr>
              <a:t>of</a:t>
            </a:r>
            <a:r>
              <a:rPr sz="2400" b="1" spc="-10" dirty="0">
                <a:latin typeface="Times New Roman"/>
                <a:cs typeface="Times New Roman"/>
              </a:rPr>
              <a:t> </a:t>
            </a:r>
            <a:r>
              <a:rPr sz="2400" b="1" dirty="0">
                <a:latin typeface="Times New Roman"/>
                <a:cs typeface="Times New Roman"/>
              </a:rPr>
              <a:t>the</a:t>
            </a:r>
            <a:r>
              <a:rPr sz="2400" b="1" spc="-15" dirty="0">
                <a:latin typeface="Times New Roman"/>
                <a:cs typeface="Times New Roman"/>
              </a:rPr>
              <a:t> </a:t>
            </a:r>
            <a:r>
              <a:rPr sz="2400" b="1" spc="-10" dirty="0">
                <a:latin typeface="Times New Roman"/>
                <a:cs typeface="Times New Roman"/>
              </a:rPr>
              <a:t>Project</a:t>
            </a:r>
            <a:endParaRPr sz="2400" b="1" dirty="0">
              <a:latin typeface="Times New Roman"/>
              <a:cs typeface="Times New Roman"/>
            </a:endParaRPr>
          </a:p>
          <a:p>
            <a:pPr marL="136525" indent="-133350">
              <a:lnSpc>
                <a:spcPct val="100000"/>
              </a:lnSpc>
              <a:spcBef>
                <a:spcPts val="665"/>
              </a:spcBef>
              <a:buSzPct val="96428"/>
              <a:buChar char="•"/>
              <a:tabLst>
                <a:tab pos="136525" algn="l"/>
              </a:tabLst>
            </a:pPr>
            <a:r>
              <a:rPr sz="2400" b="1" dirty="0">
                <a:latin typeface="Times New Roman"/>
                <a:cs typeface="Times New Roman"/>
              </a:rPr>
              <a:t>Problem</a:t>
            </a:r>
            <a:r>
              <a:rPr sz="2400" b="1" spc="-40" dirty="0">
                <a:latin typeface="Times New Roman"/>
                <a:cs typeface="Times New Roman"/>
              </a:rPr>
              <a:t> </a:t>
            </a:r>
            <a:r>
              <a:rPr sz="2400" b="1" dirty="0">
                <a:latin typeface="Times New Roman"/>
                <a:cs typeface="Times New Roman"/>
              </a:rPr>
              <a:t>Statement</a:t>
            </a:r>
            <a:r>
              <a:rPr sz="2400" b="1" spc="-30" dirty="0">
                <a:latin typeface="Times New Roman"/>
                <a:cs typeface="Times New Roman"/>
              </a:rPr>
              <a:t> </a:t>
            </a:r>
            <a:r>
              <a:rPr sz="2400" b="1" dirty="0">
                <a:latin typeface="Times New Roman"/>
                <a:cs typeface="Times New Roman"/>
              </a:rPr>
              <a:t>and</a:t>
            </a:r>
            <a:r>
              <a:rPr sz="2400" b="1" spc="-20" dirty="0">
                <a:latin typeface="Times New Roman"/>
                <a:cs typeface="Times New Roman"/>
              </a:rPr>
              <a:t> </a:t>
            </a:r>
            <a:r>
              <a:rPr sz="2400" b="1" spc="-10" dirty="0">
                <a:latin typeface="Times New Roman"/>
                <a:cs typeface="Times New Roman"/>
              </a:rPr>
              <a:t>Objectives</a:t>
            </a:r>
            <a:endParaRPr sz="2400" b="1" dirty="0">
              <a:latin typeface="Times New Roman"/>
              <a:cs typeface="Times New Roman"/>
            </a:endParaRPr>
          </a:p>
          <a:p>
            <a:pPr marL="136525" indent="-133350">
              <a:lnSpc>
                <a:spcPct val="100000"/>
              </a:lnSpc>
              <a:spcBef>
                <a:spcPts val="665"/>
              </a:spcBef>
              <a:buSzPct val="96428"/>
              <a:buChar char="•"/>
              <a:tabLst>
                <a:tab pos="136525" algn="l"/>
              </a:tabLst>
            </a:pPr>
            <a:r>
              <a:rPr sz="2400" b="1" dirty="0">
                <a:latin typeface="Times New Roman"/>
                <a:cs typeface="Times New Roman"/>
              </a:rPr>
              <a:t>SDGs</a:t>
            </a:r>
            <a:r>
              <a:rPr sz="2400" b="1" spc="-90" dirty="0">
                <a:latin typeface="Times New Roman"/>
                <a:cs typeface="Times New Roman"/>
              </a:rPr>
              <a:t> </a:t>
            </a:r>
            <a:r>
              <a:rPr sz="2400" b="1" spc="-10" dirty="0">
                <a:latin typeface="Times New Roman"/>
                <a:cs typeface="Times New Roman"/>
              </a:rPr>
              <a:t>Mapped</a:t>
            </a:r>
            <a:endParaRPr sz="2400" b="1" dirty="0">
              <a:latin typeface="Times New Roman"/>
              <a:cs typeface="Times New Roman"/>
            </a:endParaRPr>
          </a:p>
          <a:p>
            <a:pPr marL="136525" indent="-133350">
              <a:lnSpc>
                <a:spcPct val="100000"/>
              </a:lnSpc>
              <a:spcBef>
                <a:spcPts val="860"/>
              </a:spcBef>
              <a:buSzPct val="96428"/>
              <a:buChar char="•"/>
              <a:tabLst>
                <a:tab pos="136525" algn="l"/>
              </a:tabLst>
            </a:pPr>
            <a:r>
              <a:rPr sz="2400" b="1" spc="-10" dirty="0">
                <a:latin typeface="Times New Roman"/>
                <a:cs typeface="Times New Roman"/>
              </a:rPr>
              <a:t>Methodology</a:t>
            </a:r>
            <a:endParaRPr sz="2400" b="1" dirty="0">
              <a:latin typeface="Times New Roman"/>
              <a:cs typeface="Times New Roman"/>
            </a:endParaRPr>
          </a:p>
          <a:p>
            <a:pPr marL="136525" indent="-133350">
              <a:lnSpc>
                <a:spcPct val="100000"/>
              </a:lnSpc>
              <a:spcBef>
                <a:spcPts val="865"/>
              </a:spcBef>
              <a:buSzPct val="96428"/>
              <a:buChar char="•"/>
              <a:tabLst>
                <a:tab pos="136525" algn="l"/>
              </a:tabLst>
            </a:pPr>
            <a:r>
              <a:rPr lang="" sz="2400" b="1" spc="-10" dirty="0">
                <a:latin typeface="Times New Roman"/>
                <a:cs typeface="Times New Roman"/>
              </a:rPr>
              <a:t>Novelty</a:t>
            </a:r>
            <a:endParaRPr sz="2400" b="1" dirty="0">
              <a:latin typeface="Times New Roman"/>
              <a:cs typeface="Times New Roman"/>
            </a:endParaRPr>
          </a:p>
          <a:p>
            <a:pPr marL="136525" indent="-133350">
              <a:lnSpc>
                <a:spcPct val="100000"/>
              </a:lnSpc>
              <a:spcBef>
                <a:spcPts val="865"/>
              </a:spcBef>
              <a:buSzPct val="96428"/>
              <a:buChar char="•"/>
              <a:tabLst>
                <a:tab pos="136525" algn="l"/>
              </a:tabLst>
            </a:pPr>
            <a:r>
              <a:rPr lang="" sz="2400" b="1" spc="-10" dirty="0">
                <a:latin typeface="Times New Roman"/>
                <a:cs typeface="Times New Roman"/>
              </a:rPr>
              <a:t>Future Scope</a:t>
            </a:r>
            <a:endParaRPr sz="2400" b="1" dirty="0">
              <a:latin typeface="Times New Roman"/>
              <a:cs typeface="Times New Roman"/>
            </a:endParaRPr>
          </a:p>
          <a:p>
            <a:pPr marL="136525" indent="-133350">
              <a:lnSpc>
                <a:spcPct val="100000"/>
              </a:lnSpc>
              <a:spcBef>
                <a:spcPts val="865"/>
              </a:spcBef>
              <a:buSzPct val="96428"/>
              <a:buChar char="•"/>
              <a:tabLst>
                <a:tab pos="136525" algn="l"/>
              </a:tabLst>
            </a:pPr>
            <a:r>
              <a:rPr sz="2400" b="1" dirty="0">
                <a:latin typeface="Times New Roman"/>
                <a:cs typeface="Times New Roman"/>
              </a:rPr>
              <a:t>Expected </a:t>
            </a:r>
            <a:r>
              <a:rPr sz="2400" b="1" spc="-10" dirty="0">
                <a:latin typeface="Times New Roman"/>
                <a:cs typeface="Times New Roman"/>
              </a:rPr>
              <a:t>Conclusion</a:t>
            </a:r>
            <a:endParaRPr sz="2400" b="1" dirty="0">
              <a:latin typeface="Times New Roman"/>
              <a:cs typeface="Times New Roman"/>
            </a:endParaRPr>
          </a:p>
          <a:p>
            <a:pPr marL="136525" indent="-133350">
              <a:lnSpc>
                <a:spcPct val="100000"/>
              </a:lnSpc>
              <a:spcBef>
                <a:spcPts val="865"/>
              </a:spcBef>
              <a:buSzPct val="96428"/>
              <a:buChar char="•"/>
              <a:tabLst>
                <a:tab pos="136525" algn="l"/>
              </a:tabLst>
            </a:pPr>
            <a:r>
              <a:rPr sz="2400" b="1" spc="-10" dirty="0">
                <a:latin typeface="Times New Roman"/>
                <a:cs typeface="Times New Roman"/>
              </a:rPr>
              <a:t>References</a:t>
            </a:r>
            <a:endParaRPr sz="2400" b="1" dirty="0">
              <a:latin typeface="Times New Roman"/>
              <a:cs typeface="Times New Roman"/>
            </a:endParaRPr>
          </a:p>
        </p:txBody>
      </p:sp>
      <p:sp>
        <p:nvSpPr>
          <p:cNvPr id="5" name="object 5"/>
          <p:cNvSpPr txBox="1"/>
          <p:nvPr/>
        </p:nvSpPr>
        <p:spPr>
          <a:xfrm>
            <a:off x="8944119" y="6496937"/>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FFFFF"/>
                </a:solidFill>
                <a:latin typeface="Calibri"/>
                <a:cs typeface="Calibri"/>
              </a:rPr>
              <a:t>2</a:t>
            </a:r>
            <a:endParaRPr sz="1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889" rIns="0" bIns="0" rtlCol="0">
            <a:spAutoFit/>
          </a:bodyPr>
          <a:lstStyle/>
          <a:p>
            <a:pPr marL="12700">
              <a:lnSpc>
                <a:spcPct val="100000"/>
              </a:lnSpc>
              <a:spcBef>
                <a:spcPts val="130"/>
              </a:spcBef>
            </a:pPr>
            <a:r>
              <a:rPr spc="-10" dirty="0"/>
              <a:t>Introduction</a:t>
            </a:r>
          </a:p>
        </p:txBody>
      </p:sp>
      <p:sp>
        <p:nvSpPr>
          <p:cNvPr id="3" name="object 3"/>
          <p:cNvSpPr txBox="1">
            <a:spLocks noGrp="1"/>
          </p:cNvSpPr>
          <p:nvPr>
            <p:ph type="body" idx="1"/>
          </p:nvPr>
        </p:nvSpPr>
        <p:spPr>
          <a:xfrm>
            <a:off x="570050" y="1031271"/>
            <a:ext cx="7811950" cy="2955378"/>
          </a:xfrm>
          <a:prstGeom prst="rect">
            <a:avLst/>
          </a:prstGeom>
        </p:spPr>
        <p:txBody>
          <a:bodyPr vert="horz" wrap="square" lIns="0" tIns="183596" rIns="0" bIns="0" rtlCol="0">
            <a:spAutoFit/>
          </a:bodyPr>
          <a:lstStyle/>
          <a:p>
            <a:pPr algn="just"/>
            <a:r>
              <a:rPr lang="en-US" sz="1600" dirty="0"/>
              <a:t>       </a:t>
            </a:r>
            <a:r>
              <a:rPr lang="en-US" dirty="0"/>
              <a:t>Road accidents cause significant loss of life and property every year, making quick accident   detection and emergency response essential for improving road safety. Traditional accident reporting methods rely on manual communication, which can delay rescue operations and medical assistance. With the advancement of IoT and embedded systems, vehicle parameters such as acceleration, speed, and location can be monitored in real time using various sensors. Machine learning techniques can analyze this sensor data to identify abnormal patterns and detect crash events accurately. The </a:t>
            </a:r>
            <a:r>
              <a:rPr lang="en-US" dirty="0">
                <a:highlight>
                  <a:srgbClr val="FFFF00"/>
                </a:highlight>
              </a:rPr>
              <a:t>proposed system integrates IoT sensors, GPS, and machine learning to automatically detect accidents </a:t>
            </a:r>
            <a:r>
              <a:rPr lang="en-US" dirty="0"/>
              <a:t>and send location-based emergency alerts, helping reduce response time and improve overall vehicle safety.</a:t>
            </a:r>
          </a:p>
        </p:txBody>
      </p:sp>
      <p:sp>
        <p:nvSpPr>
          <p:cNvPr id="4" name="object 4"/>
          <p:cNvSpPr txBox="1"/>
          <p:nvPr/>
        </p:nvSpPr>
        <p:spPr>
          <a:xfrm>
            <a:off x="8944119" y="6496937"/>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FFFFF"/>
                </a:solidFill>
                <a:latin typeface="Calibri"/>
                <a:cs typeface="Calibri"/>
              </a:rPr>
              <a:t>3</a:t>
            </a:r>
            <a:endParaRPr sz="1200">
              <a:latin typeface="Calibri"/>
              <a:cs typeface="Calibri"/>
            </a:endParaRPr>
          </a:p>
        </p:txBody>
      </p:sp>
      <p:sp>
        <p:nvSpPr>
          <p:cNvPr id="5" name="object 5"/>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pic>
        <p:nvPicPr>
          <p:cNvPr id="6" name="Picture 5">
            <a:extLst>
              <a:ext uri="{FF2B5EF4-FFF2-40B4-BE49-F238E27FC236}">
                <a16:creationId xmlns:a16="http://schemas.microsoft.com/office/drawing/2014/main" id="{999728F0-ADF1-2B6E-60F9-C64AFAF0D5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4802" y="3986649"/>
            <a:ext cx="3534394" cy="2082137"/>
          </a:xfrm>
          <a:prstGeom prst="rect">
            <a:avLst/>
          </a:prstGeom>
        </p:spPr>
      </p:pic>
      <p:sp>
        <p:nvSpPr>
          <p:cNvPr id="8" name="TextBox 7">
            <a:extLst>
              <a:ext uri="{FF2B5EF4-FFF2-40B4-BE49-F238E27FC236}">
                <a16:creationId xmlns:a16="http://schemas.microsoft.com/office/drawing/2014/main" id="{A686A3D0-0ABC-1692-8BF2-97E093237773}"/>
              </a:ext>
            </a:extLst>
          </p:cNvPr>
          <p:cNvSpPr txBox="1"/>
          <p:nvPr/>
        </p:nvSpPr>
        <p:spPr>
          <a:xfrm>
            <a:off x="4244659" y="5889701"/>
            <a:ext cx="2064204" cy="584775"/>
          </a:xfrm>
          <a:prstGeom prst="rect">
            <a:avLst/>
          </a:prstGeom>
          <a:noFill/>
        </p:spPr>
        <p:txBody>
          <a:bodyPr wrap="square" rtlCol="0">
            <a:spAutoFit/>
          </a:bodyPr>
          <a:lstStyle>
            <a:defPPr>
              <a:defRPr kern="0"/>
            </a:defPPr>
            <a:lvl1pPr algn="l">
              <a:defRPr sz="1600" i="1"/>
            </a:lvl1pPr>
          </a:lstStyle>
          <a:p>
            <a:endParaRPr lang="" dirty="0"/>
          </a:p>
          <a:p>
            <a:endParaRPr lang="" dirty="0"/>
          </a:p>
        </p:txBody>
      </p:sp>
      <p:sp>
        <p:nvSpPr>
          <p:cNvPr id="10" name="TextBox 9">
            <a:extLst>
              <a:ext uri="{FF2B5EF4-FFF2-40B4-BE49-F238E27FC236}">
                <a16:creationId xmlns:a16="http://schemas.microsoft.com/office/drawing/2014/main" id="{7C909DA8-04E5-71A7-F963-ACE393AF3C9F}"/>
              </a:ext>
            </a:extLst>
          </p:cNvPr>
          <p:cNvSpPr txBox="1"/>
          <p:nvPr/>
        </p:nvSpPr>
        <p:spPr>
          <a:xfrm>
            <a:off x="3052660" y="6006936"/>
            <a:ext cx="4448202" cy="276999"/>
          </a:xfrm>
          <a:prstGeom prst="rect">
            <a:avLst/>
          </a:prstGeom>
          <a:noFill/>
        </p:spPr>
        <p:txBody>
          <a:bodyPr wrap="square" rtlCol="0">
            <a:spAutoFit/>
          </a:bodyPr>
          <a:lstStyle>
            <a:defPPr>
              <a:defRPr kern="0"/>
            </a:defPPr>
            <a:lvl1pPr algn="l">
              <a:defRPr sz="1600" i="1"/>
            </a:lvl1pPr>
          </a:lstStyle>
          <a:p>
            <a:r>
              <a:rPr lang="" sz="1200" dirty="0"/>
              <a:t>Fig. 1: Vehicle Accident Detection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683" rIns="0" bIns="0" rtlCol="0">
            <a:spAutoFit/>
          </a:bodyPr>
          <a:lstStyle/>
          <a:p>
            <a:pPr marL="12700">
              <a:lnSpc>
                <a:spcPct val="100000"/>
              </a:lnSpc>
              <a:spcBef>
                <a:spcPts val="125"/>
              </a:spcBef>
            </a:pPr>
            <a:r>
              <a:rPr dirty="0"/>
              <a:t>Literature</a:t>
            </a:r>
            <a:r>
              <a:rPr spc="-45" dirty="0"/>
              <a:t> </a:t>
            </a:r>
            <a:r>
              <a:rPr spc="-10" dirty="0"/>
              <a:t>Review</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14935">
              <a:lnSpc>
                <a:spcPts val="1240"/>
              </a:lnSpc>
            </a:pPr>
            <a:fld id="{81D60167-4931-47E6-BA6A-407CBD079E47}" type="slidenum">
              <a:rPr spc="-50" dirty="0"/>
              <a:t>4</a:t>
            </a:fld>
            <a:endParaRPr spc="-50" dirty="0"/>
          </a:p>
        </p:txBody>
      </p:sp>
      <p:graphicFrame>
        <p:nvGraphicFramePr>
          <p:cNvPr id="6" name="object 3">
            <a:extLst>
              <a:ext uri="{FF2B5EF4-FFF2-40B4-BE49-F238E27FC236}">
                <a16:creationId xmlns:a16="http://schemas.microsoft.com/office/drawing/2014/main" id="{06B8C34B-2F31-AD33-C8AD-13F5726E0FE0}"/>
              </a:ext>
            </a:extLst>
          </p:cNvPr>
          <p:cNvGraphicFramePr>
            <a:graphicFrameLocks noGrp="1"/>
          </p:cNvGraphicFramePr>
          <p:nvPr>
            <p:extLst>
              <p:ext uri="{D42A27DB-BD31-4B8C-83A1-F6EECF244321}">
                <p14:modId xmlns:p14="http://schemas.microsoft.com/office/powerpoint/2010/main" val="2339031678"/>
              </p:ext>
            </p:extLst>
          </p:nvPr>
        </p:nvGraphicFramePr>
        <p:xfrm>
          <a:off x="570074" y="1255874"/>
          <a:ext cx="7716677" cy="5017018"/>
        </p:xfrm>
        <a:graphic>
          <a:graphicData uri="http://schemas.openxmlformats.org/drawingml/2006/table">
            <a:tbl>
              <a:tblPr firstRow="1" bandRow="1">
                <a:tableStyleId>{2D5ABB26-0587-4C30-8999-92F81FD0307C}</a:tableStyleId>
              </a:tblPr>
              <a:tblGrid>
                <a:gridCol w="469402">
                  <a:extLst>
                    <a:ext uri="{9D8B030D-6E8A-4147-A177-3AD203B41FA5}">
                      <a16:colId xmlns:a16="http://schemas.microsoft.com/office/drawing/2014/main" val="20000"/>
                    </a:ext>
                  </a:extLst>
                </a:gridCol>
                <a:gridCol w="1230016">
                  <a:extLst>
                    <a:ext uri="{9D8B030D-6E8A-4147-A177-3AD203B41FA5}">
                      <a16:colId xmlns:a16="http://schemas.microsoft.com/office/drawing/2014/main" val="20001"/>
                    </a:ext>
                  </a:extLst>
                </a:gridCol>
                <a:gridCol w="1343036">
                  <a:extLst>
                    <a:ext uri="{9D8B030D-6E8A-4147-A177-3AD203B41FA5}">
                      <a16:colId xmlns:a16="http://schemas.microsoft.com/office/drawing/2014/main" val="20002"/>
                    </a:ext>
                  </a:extLst>
                </a:gridCol>
                <a:gridCol w="1842137">
                  <a:extLst>
                    <a:ext uri="{9D8B030D-6E8A-4147-A177-3AD203B41FA5}">
                      <a16:colId xmlns:a16="http://schemas.microsoft.com/office/drawing/2014/main" val="20003"/>
                    </a:ext>
                  </a:extLst>
                </a:gridCol>
                <a:gridCol w="1422230">
                  <a:extLst>
                    <a:ext uri="{9D8B030D-6E8A-4147-A177-3AD203B41FA5}">
                      <a16:colId xmlns:a16="http://schemas.microsoft.com/office/drawing/2014/main" val="20004"/>
                    </a:ext>
                  </a:extLst>
                </a:gridCol>
                <a:gridCol w="1409856">
                  <a:extLst>
                    <a:ext uri="{9D8B030D-6E8A-4147-A177-3AD203B41FA5}">
                      <a16:colId xmlns:a16="http://schemas.microsoft.com/office/drawing/2014/main" val="20005"/>
                    </a:ext>
                  </a:extLst>
                </a:gridCol>
              </a:tblGrid>
              <a:tr h="513879">
                <a:tc>
                  <a:txBody>
                    <a:bodyPr/>
                    <a:lstStyle/>
                    <a:p>
                      <a:pPr marL="85090">
                        <a:lnSpc>
                          <a:spcPts val="1380"/>
                        </a:lnSpc>
                      </a:pPr>
                      <a:r>
                        <a:rPr sz="1200" b="1" spc="-25" dirty="0">
                          <a:latin typeface="Times New Roman"/>
                          <a:cs typeface="Times New Roman"/>
                        </a:rPr>
                        <a:t>Sr.</a:t>
                      </a:r>
                      <a:endParaRPr sz="1200">
                        <a:latin typeface="Times New Roman"/>
                        <a:cs typeface="Times New Roman"/>
                      </a:endParaRPr>
                    </a:p>
                    <a:p>
                      <a:pPr marL="67945">
                        <a:lnSpc>
                          <a:spcPct val="100000"/>
                        </a:lnSpc>
                        <a:spcBef>
                          <a:spcPts val="155"/>
                        </a:spcBef>
                      </a:pPr>
                      <a:r>
                        <a:rPr sz="1200" b="1" spc="-25" dirty="0">
                          <a:latin typeface="Times New Roman"/>
                          <a:cs typeface="Times New Roman"/>
                        </a:rPr>
                        <a:t>No.</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b="1" dirty="0">
                          <a:latin typeface="Times New Roman"/>
                          <a:cs typeface="Times New Roman"/>
                        </a:rPr>
                        <a:t>Author(s)</a:t>
                      </a:r>
                      <a:r>
                        <a:rPr sz="1200" b="1" spc="-45" dirty="0">
                          <a:latin typeface="Times New Roman"/>
                          <a:cs typeface="Times New Roman"/>
                        </a:rPr>
                        <a:t> </a:t>
                      </a:r>
                      <a:r>
                        <a:rPr sz="1200" b="1" spc="-50" dirty="0">
                          <a:latin typeface="Times New Roman"/>
                          <a:cs typeface="Times New Roman"/>
                        </a:rPr>
                        <a:t>&amp;</a:t>
                      </a:r>
                      <a:endParaRPr sz="1200">
                        <a:latin typeface="Times New Roman"/>
                        <a:cs typeface="Times New Roman"/>
                      </a:endParaRPr>
                    </a:p>
                    <a:p>
                      <a:pPr algn="ctr">
                        <a:lnSpc>
                          <a:spcPct val="100000"/>
                        </a:lnSpc>
                        <a:spcBef>
                          <a:spcPts val="155"/>
                        </a:spcBef>
                      </a:pPr>
                      <a:r>
                        <a:rPr sz="1200" b="1" spc="-20" dirty="0">
                          <a:latin typeface="Times New Roman"/>
                          <a:cs typeface="Times New Roman"/>
                        </a:rPr>
                        <a:t>Year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1125">
                        <a:lnSpc>
                          <a:spcPts val="1380"/>
                        </a:lnSpc>
                      </a:pPr>
                      <a:r>
                        <a:rPr sz="1200" b="1" dirty="0">
                          <a:latin typeface="Times New Roman"/>
                          <a:cs typeface="Times New Roman"/>
                        </a:rPr>
                        <a:t>Title</a:t>
                      </a:r>
                      <a:r>
                        <a:rPr sz="1200" b="1" spc="-20" dirty="0">
                          <a:latin typeface="Times New Roman"/>
                          <a:cs typeface="Times New Roman"/>
                        </a:rPr>
                        <a:t> </a:t>
                      </a:r>
                      <a:r>
                        <a:rPr sz="1200" b="1" dirty="0">
                          <a:latin typeface="Times New Roman"/>
                          <a:cs typeface="Times New Roman"/>
                        </a:rPr>
                        <a:t>/</a:t>
                      </a:r>
                      <a:r>
                        <a:rPr sz="1200" b="1" spc="-10" dirty="0">
                          <a:latin typeface="Times New Roman"/>
                          <a:cs typeface="Times New Roman"/>
                        </a:rPr>
                        <a:t> </a:t>
                      </a:r>
                      <a:r>
                        <a:rPr sz="1200" b="1" spc="-20" dirty="0">
                          <a:latin typeface="Times New Roman"/>
                          <a:cs typeface="Times New Roman"/>
                        </a:rPr>
                        <a:t>Paper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b="1" dirty="0">
                          <a:latin typeface="Times New Roman"/>
                          <a:cs typeface="Times New Roman"/>
                        </a:rPr>
                        <a:t>Methodology</a:t>
                      </a:r>
                      <a:r>
                        <a:rPr sz="1200" b="1" spc="-70" dirty="0">
                          <a:latin typeface="Times New Roman"/>
                          <a:cs typeface="Times New Roman"/>
                        </a:rPr>
                        <a:t> </a:t>
                      </a:r>
                      <a:r>
                        <a:rPr sz="1200" b="1" spc="-50" dirty="0">
                          <a:latin typeface="Times New Roman"/>
                          <a:cs typeface="Times New Roman"/>
                        </a:rPr>
                        <a:t>/</a:t>
                      </a:r>
                      <a:endParaRPr sz="1200">
                        <a:latin typeface="Times New Roman"/>
                        <a:cs typeface="Times New Roman"/>
                      </a:endParaRPr>
                    </a:p>
                    <a:p>
                      <a:pPr algn="ctr">
                        <a:lnSpc>
                          <a:spcPct val="100000"/>
                        </a:lnSpc>
                        <a:spcBef>
                          <a:spcPts val="155"/>
                        </a:spcBef>
                      </a:pPr>
                      <a:r>
                        <a:rPr sz="1200" b="1" spc="-10" dirty="0">
                          <a:latin typeface="Times New Roman"/>
                          <a:cs typeface="Times New Roman"/>
                        </a:rPr>
                        <a:t>Approach</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b="1" dirty="0">
                          <a:latin typeface="Times New Roman"/>
                          <a:cs typeface="Times New Roman"/>
                        </a:rPr>
                        <a:t>Findings</a:t>
                      </a:r>
                      <a:r>
                        <a:rPr sz="1200" b="1" spc="-50" dirty="0">
                          <a:latin typeface="Times New Roman"/>
                          <a:cs typeface="Times New Roman"/>
                        </a:rPr>
                        <a:t> /</a:t>
                      </a:r>
                      <a:endParaRPr sz="1200">
                        <a:latin typeface="Times New Roman"/>
                        <a:cs typeface="Times New Roman"/>
                      </a:endParaRPr>
                    </a:p>
                    <a:p>
                      <a:pPr algn="ctr">
                        <a:lnSpc>
                          <a:spcPct val="100000"/>
                        </a:lnSpc>
                        <a:spcBef>
                          <a:spcPts val="155"/>
                        </a:spcBef>
                      </a:pPr>
                      <a:r>
                        <a:rPr sz="1200" b="1" spc="-10" dirty="0">
                          <a:latin typeface="Times New Roman"/>
                          <a:cs typeface="Times New Roman"/>
                        </a:rPr>
                        <a:t>Results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b="1" dirty="0">
                          <a:latin typeface="Times New Roman"/>
                          <a:cs typeface="Times New Roman"/>
                        </a:rPr>
                        <a:t>Limitations</a:t>
                      </a:r>
                      <a:r>
                        <a:rPr sz="1200" b="1" spc="-55" dirty="0">
                          <a:latin typeface="Times New Roman"/>
                          <a:cs typeface="Times New Roman"/>
                        </a:rPr>
                        <a:t> </a:t>
                      </a:r>
                      <a:r>
                        <a:rPr sz="1200" b="1" spc="-50" dirty="0">
                          <a:latin typeface="Times New Roman"/>
                          <a:cs typeface="Times New Roman"/>
                        </a:rPr>
                        <a:t>/</a:t>
                      </a:r>
                      <a:endParaRPr sz="1200">
                        <a:latin typeface="Times New Roman"/>
                        <a:cs typeface="Times New Roman"/>
                      </a:endParaRPr>
                    </a:p>
                    <a:p>
                      <a:pPr marL="635" algn="ctr">
                        <a:lnSpc>
                          <a:spcPct val="100000"/>
                        </a:lnSpc>
                        <a:spcBef>
                          <a:spcPts val="155"/>
                        </a:spcBef>
                      </a:pPr>
                      <a:r>
                        <a:rPr sz="1200" b="1" spc="-20" dirty="0">
                          <a:latin typeface="Times New Roman"/>
                          <a:cs typeface="Times New Roman"/>
                        </a:rPr>
                        <a:t>Gaps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094733">
                <a:tc>
                  <a:txBody>
                    <a:bodyPr/>
                    <a:lstStyle/>
                    <a:p>
                      <a:pPr algn="ctr">
                        <a:lnSpc>
                          <a:spcPts val="1380"/>
                        </a:lnSpc>
                      </a:pPr>
                      <a:r>
                        <a:rPr sz="1200" spc="-50" dirty="0">
                          <a:latin typeface="Times New Roman"/>
                          <a:cs typeface="Times New Roman"/>
                        </a:rPr>
                        <a:t>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Singh</a:t>
                      </a:r>
                      <a:r>
                        <a:rPr sz="1200" spc="-20" dirty="0">
                          <a:latin typeface="Times New Roman"/>
                          <a:cs typeface="Times New Roman"/>
                        </a:rPr>
                        <a:t> </a:t>
                      </a:r>
                      <a:r>
                        <a:rPr sz="1200" dirty="0">
                          <a:latin typeface="Times New Roman"/>
                          <a:cs typeface="Times New Roman"/>
                        </a:rPr>
                        <a:t>et</a:t>
                      </a:r>
                      <a:r>
                        <a:rPr sz="1200" spc="-20" dirty="0">
                          <a:latin typeface="Times New Roman"/>
                          <a:cs typeface="Times New Roman"/>
                        </a:rPr>
                        <a:t> </a:t>
                      </a:r>
                      <a:r>
                        <a:rPr sz="1200" spc="-25" dirty="0">
                          <a:latin typeface="Times New Roman"/>
                          <a:cs typeface="Times New Roman"/>
                        </a:rPr>
                        <a:t>al.</a:t>
                      </a:r>
                      <a:endParaRPr sz="1200">
                        <a:latin typeface="Times New Roman"/>
                        <a:cs typeface="Times New Roman"/>
                      </a:endParaRPr>
                    </a:p>
                    <a:p>
                      <a:pPr algn="ctr">
                        <a:lnSpc>
                          <a:spcPct val="100000"/>
                        </a:lnSpc>
                        <a:spcBef>
                          <a:spcPts val="155"/>
                        </a:spcBef>
                      </a:pPr>
                      <a:r>
                        <a:rPr sz="1200" spc="-10" dirty="0">
                          <a:latin typeface="Times New Roman"/>
                          <a:cs typeface="Times New Roman"/>
                        </a:rPr>
                        <a:t>(2022)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6850">
                        <a:lnSpc>
                          <a:spcPts val="1380"/>
                        </a:lnSpc>
                      </a:pPr>
                      <a:r>
                        <a:rPr sz="1200" spc="-10" dirty="0">
                          <a:latin typeface="Times New Roman"/>
                          <a:cs typeface="Times New Roman"/>
                        </a:rPr>
                        <a:t>IoT-Based</a:t>
                      </a:r>
                      <a:endParaRPr sz="1200">
                        <a:latin typeface="Times New Roman"/>
                        <a:cs typeface="Times New Roman"/>
                      </a:endParaRPr>
                    </a:p>
                    <a:p>
                      <a:pPr marL="220979" marR="213360" indent="59055" algn="just">
                        <a:lnSpc>
                          <a:spcPct val="110000"/>
                        </a:lnSpc>
                        <a:spcBef>
                          <a:spcPts val="10"/>
                        </a:spcBef>
                      </a:pPr>
                      <a:r>
                        <a:rPr sz="1200" spc="-10" dirty="0">
                          <a:latin typeface="Times New Roman"/>
                          <a:cs typeface="Times New Roman"/>
                        </a:rPr>
                        <a:t>Vehicle Accident Detection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spc="-10" dirty="0">
                          <a:latin typeface="Times New Roman"/>
                          <a:cs typeface="Times New Roman"/>
                        </a:rPr>
                        <a:t>Accelerometer</a:t>
                      </a:r>
                      <a:r>
                        <a:rPr sz="1200" spc="25" dirty="0">
                          <a:latin typeface="Times New Roman"/>
                          <a:cs typeface="Times New Roman"/>
                        </a:rPr>
                        <a:t> </a:t>
                      </a:r>
                      <a:r>
                        <a:rPr sz="1200" spc="-25" dirty="0">
                          <a:latin typeface="Times New Roman"/>
                          <a:cs typeface="Times New Roman"/>
                        </a:rPr>
                        <a:t>and</a:t>
                      </a:r>
                      <a:endParaRPr sz="1200">
                        <a:latin typeface="Times New Roman"/>
                        <a:cs typeface="Times New Roman"/>
                      </a:endParaRPr>
                    </a:p>
                    <a:p>
                      <a:pPr marL="162560" marR="155575" algn="ctr">
                        <a:lnSpc>
                          <a:spcPct val="110000"/>
                        </a:lnSpc>
                        <a:spcBef>
                          <a:spcPts val="10"/>
                        </a:spcBef>
                      </a:pPr>
                      <a:r>
                        <a:rPr sz="1200" dirty="0">
                          <a:latin typeface="Times New Roman"/>
                          <a:cs typeface="Times New Roman"/>
                        </a:rPr>
                        <a:t>GSM</a:t>
                      </a:r>
                      <a:r>
                        <a:rPr sz="1200" spc="-35" dirty="0">
                          <a:latin typeface="Times New Roman"/>
                          <a:cs typeface="Times New Roman"/>
                        </a:rPr>
                        <a:t> </a:t>
                      </a:r>
                      <a:r>
                        <a:rPr sz="1200" dirty="0">
                          <a:latin typeface="Times New Roman"/>
                          <a:cs typeface="Times New Roman"/>
                        </a:rPr>
                        <a:t>detect</a:t>
                      </a:r>
                      <a:r>
                        <a:rPr sz="1200" spc="-25" dirty="0">
                          <a:latin typeface="Times New Roman"/>
                          <a:cs typeface="Times New Roman"/>
                        </a:rPr>
                        <a:t> </a:t>
                      </a:r>
                      <a:r>
                        <a:rPr sz="1200" spc="-10" dirty="0">
                          <a:latin typeface="Times New Roman"/>
                          <a:cs typeface="Times New Roman"/>
                        </a:rPr>
                        <a:t>crash </a:t>
                      </a:r>
                      <a:r>
                        <a:rPr sz="1200" dirty="0">
                          <a:latin typeface="Times New Roman"/>
                          <a:cs typeface="Times New Roman"/>
                        </a:rPr>
                        <a:t>impact</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20" dirty="0">
                          <a:latin typeface="Times New Roman"/>
                          <a:cs typeface="Times New Roman"/>
                        </a:rPr>
                        <a:t>send </a:t>
                      </a:r>
                      <a:r>
                        <a:rPr sz="1200" dirty="0">
                          <a:latin typeface="Times New Roman"/>
                          <a:cs typeface="Times New Roman"/>
                        </a:rPr>
                        <a:t>GPS</a:t>
                      </a:r>
                      <a:r>
                        <a:rPr sz="1200" spc="-5" dirty="0">
                          <a:latin typeface="Times New Roman"/>
                          <a:cs typeface="Times New Roman"/>
                        </a:rPr>
                        <a:t> </a:t>
                      </a:r>
                      <a:r>
                        <a:rPr sz="1200" spc="-10" dirty="0">
                          <a:latin typeface="Times New Roman"/>
                          <a:cs typeface="Times New Roman"/>
                        </a:rPr>
                        <a:t>alerts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46379">
                        <a:lnSpc>
                          <a:spcPts val="1380"/>
                        </a:lnSpc>
                      </a:pPr>
                      <a:r>
                        <a:rPr sz="1200" spc="-10" dirty="0">
                          <a:latin typeface="Times New Roman"/>
                          <a:cs typeface="Times New Roman"/>
                        </a:rPr>
                        <a:t>Real-</a:t>
                      </a:r>
                      <a:r>
                        <a:rPr sz="1200" spc="-20" dirty="0">
                          <a:latin typeface="Times New Roman"/>
                          <a:cs typeface="Times New Roman"/>
                        </a:rPr>
                        <a:t>time</a:t>
                      </a:r>
                      <a:endParaRPr sz="1200">
                        <a:latin typeface="Times New Roman"/>
                        <a:cs typeface="Times New Roman"/>
                      </a:endParaRPr>
                    </a:p>
                    <a:p>
                      <a:pPr marL="194945" marR="189230" indent="99060">
                        <a:lnSpc>
                          <a:spcPct val="110000"/>
                        </a:lnSpc>
                        <a:spcBef>
                          <a:spcPts val="10"/>
                        </a:spcBef>
                      </a:pPr>
                      <a:r>
                        <a:rPr sz="1200" spc="-10" dirty="0">
                          <a:latin typeface="Times New Roman"/>
                          <a:cs typeface="Times New Roman"/>
                        </a:rPr>
                        <a:t>accident notification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spc="-10" dirty="0">
                          <a:latin typeface="Times New Roman"/>
                          <a:cs typeface="Times New Roman"/>
                        </a:rPr>
                        <a:t>Fixed</a:t>
                      </a:r>
                      <a:endParaRPr sz="1200">
                        <a:latin typeface="Times New Roman"/>
                        <a:cs typeface="Times New Roman"/>
                      </a:endParaRPr>
                    </a:p>
                    <a:p>
                      <a:pPr marL="258445" marR="251460" algn="ctr">
                        <a:lnSpc>
                          <a:spcPct val="110000"/>
                        </a:lnSpc>
                        <a:spcBef>
                          <a:spcPts val="10"/>
                        </a:spcBef>
                      </a:pPr>
                      <a:r>
                        <a:rPr sz="1200" spc="-10" dirty="0">
                          <a:latin typeface="Times New Roman"/>
                          <a:cs typeface="Times New Roman"/>
                        </a:rPr>
                        <a:t>threshold detection reduces accuracy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899897">
                <a:tc>
                  <a:txBody>
                    <a:bodyPr/>
                    <a:lstStyle/>
                    <a:p>
                      <a:pPr algn="ctr">
                        <a:lnSpc>
                          <a:spcPts val="1380"/>
                        </a:lnSpc>
                      </a:pPr>
                      <a:r>
                        <a:rPr sz="1200" spc="-50" dirty="0">
                          <a:latin typeface="Times New Roman"/>
                          <a:cs typeface="Times New Roman"/>
                        </a:rPr>
                        <a:t>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61290">
                        <a:lnSpc>
                          <a:spcPts val="1380"/>
                        </a:lnSpc>
                      </a:pPr>
                      <a:r>
                        <a:rPr sz="1200" dirty="0">
                          <a:latin typeface="Times New Roman"/>
                          <a:cs typeface="Times New Roman"/>
                        </a:rPr>
                        <a:t>Sharma</a:t>
                      </a:r>
                      <a:r>
                        <a:rPr sz="1200" spc="-50" dirty="0">
                          <a:latin typeface="Times New Roman"/>
                          <a:cs typeface="Times New Roman"/>
                        </a:rPr>
                        <a:t> &amp;</a:t>
                      </a:r>
                      <a:endParaRPr sz="1200">
                        <a:latin typeface="Times New Roman"/>
                        <a:cs typeface="Times New Roman"/>
                      </a:endParaRPr>
                    </a:p>
                    <a:p>
                      <a:pPr marL="97155">
                        <a:lnSpc>
                          <a:spcPct val="100000"/>
                        </a:lnSpc>
                        <a:spcBef>
                          <a:spcPts val="145"/>
                        </a:spcBef>
                      </a:pPr>
                      <a:r>
                        <a:rPr sz="1200" dirty="0">
                          <a:latin typeface="Times New Roman"/>
                          <a:cs typeface="Times New Roman"/>
                        </a:rPr>
                        <a:t>Patel</a:t>
                      </a:r>
                      <a:r>
                        <a:rPr sz="1200" spc="-35" dirty="0">
                          <a:latin typeface="Times New Roman"/>
                          <a:cs typeface="Times New Roman"/>
                        </a:rPr>
                        <a:t> </a:t>
                      </a:r>
                      <a:r>
                        <a:rPr sz="1200" spc="-10" dirty="0">
                          <a:latin typeface="Times New Roman"/>
                          <a:cs typeface="Times New Roman"/>
                        </a:rPr>
                        <a:t>(2021)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Smart</a:t>
                      </a:r>
                      <a:r>
                        <a:rPr sz="1200" spc="-40" dirty="0">
                          <a:latin typeface="Times New Roman"/>
                          <a:cs typeface="Times New Roman"/>
                        </a:rPr>
                        <a:t> </a:t>
                      </a:r>
                      <a:r>
                        <a:rPr sz="1200" spc="-10" dirty="0">
                          <a:latin typeface="Times New Roman"/>
                          <a:cs typeface="Times New Roman"/>
                        </a:rPr>
                        <a:t>Vehicle</a:t>
                      </a:r>
                      <a:endParaRPr sz="1200">
                        <a:latin typeface="Times New Roman"/>
                        <a:cs typeface="Times New Roman"/>
                      </a:endParaRPr>
                    </a:p>
                    <a:p>
                      <a:pPr marL="193675" marR="184150" algn="ctr">
                        <a:lnSpc>
                          <a:spcPts val="1600"/>
                        </a:lnSpc>
                        <a:spcBef>
                          <a:spcPts val="65"/>
                        </a:spcBef>
                      </a:pPr>
                      <a:r>
                        <a:rPr sz="1200" dirty="0">
                          <a:latin typeface="Times New Roman"/>
                          <a:cs typeface="Times New Roman"/>
                        </a:rPr>
                        <a:t>Black</a:t>
                      </a:r>
                      <a:r>
                        <a:rPr sz="1200" spc="-25" dirty="0">
                          <a:latin typeface="Times New Roman"/>
                          <a:cs typeface="Times New Roman"/>
                        </a:rPr>
                        <a:t> Box </a:t>
                      </a:r>
                      <a:r>
                        <a:rPr sz="1200" spc="-10"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Embedded</a:t>
                      </a:r>
                      <a:r>
                        <a:rPr sz="1200" spc="-6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algn="ctr">
                        <a:lnSpc>
                          <a:spcPct val="100000"/>
                        </a:lnSpc>
                        <a:spcBef>
                          <a:spcPts val="145"/>
                        </a:spcBef>
                      </a:pPr>
                      <a:r>
                        <a:rPr sz="1200" dirty="0">
                          <a:latin typeface="Times New Roman"/>
                          <a:cs typeface="Times New Roman"/>
                        </a:rPr>
                        <a:t>logs</a:t>
                      </a:r>
                      <a:r>
                        <a:rPr sz="1200" spc="-30" dirty="0">
                          <a:latin typeface="Times New Roman"/>
                          <a:cs typeface="Times New Roman"/>
                        </a:rPr>
                        <a:t> </a:t>
                      </a:r>
                      <a:r>
                        <a:rPr sz="1200" spc="-10" dirty="0">
                          <a:latin typeface="Times New Roman"/>
                          <a:cs typeface="Times New Roman"/>
                        </a:rPr>
                        <a:t>speed,</a:t>
                      </a:r>
                      <a:endParaRPr sz="1200">
                        <a:latin typeface="Times New Roman"/>
                        <a:cs typeface="Times New Roman"/>
                      </a:endParaRPr>
                    </a:p>
                    <a:p>
                      <a:pPr marL="211454" marR="205740" algn="ctr">
                        <a:lnSpc>
                          <a:spcPct val="110000"/>
                        </a:lnSpc>
                        <a:spcBef>
                          <a:spcPts val="10"/>
                        </a:spcBef>
                      </a:pPr>
                      <a:r>
                        <a:rPr sz="1200" spc="-10" dirty="0">
                          <a:latin typeface="Times New Roman"/>
                          <a:cs typeface="Times New Roman"/>
                        </a:rPr>
                        <a:t>acceleration</a:t>
                      </a:r>
                      <a:r>
                        <a:rPr sz="1200" spc="40" dirty="0">
                          <a:latin typeface="Times New Roman"/>
                          <a:cs typeface="Times New Roman"/>
                        </a:rPr>
                        <a:t> </a:t>
                      </a:r>
                      <a:r>
                        <a:rPr sz="1200" spc="-25" dirty="0">
                          <a:latin typeface="Times New Roman"/>
                          <a:cs typeface="Times New Roman"/>
                        </a:rPr>
                        <a:t>and GPS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Reliable</a:t>
                      </a:r>
                      <a:r>
                        <a:rPr sz="1200" spc="-50" dirty="0">
                          <a:latin typeface="Times New Roman"/>
                          <a:cs typeface="Times New Roman"/>
                        </a:rPr>
                        <a:t> </a:t>
                      </a:r>
                      <a:r>
                        <a:rPr sz="1200" spc="-10" dirty="0">
                          <a:latin typeface="Times New Roman"/>
                          <a:cs typeface="Times New Roman"/>
                        </a:rPr>
                        <a:t>crash</a:t>
                      </a:r>
                      <a:endParaRPr sz="1200" dirty="0">
                        <a:latin typeface="Times New Roman"/>
                        <a:cs typeface="Times New Roman"/>
                      </a:endParaRPr>
                    </a:p>
                    <a:p>
                      <a:pPr marL="276860" marR="269240" algn="ctr">
                        <a:lnSpc>
                          <a:spcPts val="1600"/>
                        </a:lnSpc>
                        <a:spcBef>
                          <a:spcPts val="65"/>
                        </a:spcBef>
                      </a:pPr>
                      <a:r>
                        <a:rPr sz="1200" spc="-10" dirty="0">
                          <a:latin typeface="Times New Roman"/>
                          <a:cs typeface="Times New Roman"/>
                        </a:rPr>
                        <a:t>evidence storage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76530">
                        <a:lnSpc>
                          <a:spcPts val="1380"/>
                        </a:lnSpc>
                      </a:pPr>
                      <a:r>
                        <a:rPr sz="1200" dirty="0">
                          <a:latin typeface="Times New Roman"/>
                          <a:cs typeface="Times New Roman"/>
                        </a:rPr>
                        <a:t>No </a:t>
                      </a:r>
                      <a:r>
                        <a:rPr sz="1200" spc="-10" dirty="0">
                          <a:latin typeface="Times New Roman"/>
                          <a:cs typeface="Times New Roman"/>
                        </a:rPr>
                        <a:t>accident</a:t>
                      </a:r>
                      <a:endParaRPr sz="1200">
                        <a:latin typeface="Times New Roman"/>
                        <a:cs typeface="Times New Roman"/>
                      </a:endParaRPr>
                    </a:p>
                    <a:p>
                      <a:pPr marL="241935" marR="227329" indent="-9525">
                        <a:lnSpc>
                          <a:spcPts val="1600"/>
                        </a:lnSpc>
                        <a:spcBef>
                          <a:spcPts val="65"/>
                        </a:spcBef>
                      </a:pPr>
                      <a:r>
                        <a:rPr sz="1200" spc="-10" dirty="0">
                          <a:latin typeface="Times New Roman"/>
                          <a:cs typeface="Times New Roman"/>
                        </a:rPr>
                        <a:t>prediction capability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901115">
                <a:tc>
                  <a:txBody>
                    <a:bodyPr/>
                    <a:lstStyle/>
                    <a:p>
                      <a:pPr algn="ctr">
                        <a:lnSpc>
                          <a:spcPts val="1390"/>
                        </a:lnSpc>
                      </a:pPr>
                      <a:r>
                        <a:rPr sz="1200" spc="-50" dirty="0">
                          <a:latin typeface="Times New Roman"/>
                          <a:cs typeface="Times New Roman"/>
                        </a:rPr>
                        <a:t>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90"/>
                        </a:lnSpc>
                      </a:pPr>
                      <a:r>
                        <a:rPr sz="1200" dirty="0">
                          <a:latin typeface="Times New Roman"/>
                          <a:cs typeface="Times New Roman"/>
                        </a:rPr>
                        <a:t>Kumar</a:t>
                      </a:r>
                      <a:r>
                        <a:rPr sz="1200" spc="-35" dirty="0">
                          <a:latin typeface="Times New Roman"/>
                          <a:cs typeface="Times New Roman"/>
                        </a:rPr>
                        <a:t> </a:t>
                      </a:r>
                      <a:r>
                        <a:rPr sz="1200" dirty="0">
                          <a:latin typeface="Times New Roman"/>
                          <a:cs typeface="Times New Roman"/>
                        </a:rPr>
                        <a:t>et</a:t>
                      </a:r>
                      <a:r>
                        <a:rPr sz="1200" spc="-30" dirty="0">
                          <a:latin typeface="Times New Roman"/>
                          <a:cs typeface="Times New Roman"/>
                        </a:rPr>
                        <a:t> </a:t>
                      </a:r>
                      <a:r>
                        <a:rPr sz="1200" spc="-25" dirty="0">
                          <a:latin typeface="Times New Roman"/>
                          <a:cs typeface="Times New Roman"/>
                        </a:rPr>
                        <a:t>al.</a:t>
                      </a:r>
                      <a:endParaRPr sz="1200" dirty="0">
                        <a:latin typeface="Times New Roman"/>
                        <a:cs typeface="Times New Roman"/>
                      </a:endParaRPr>
                    </a:p>
                    <a:p>
                      <a:pPr algn="ctr">
                        <a:lnSpc>
                          <a:spcPct val="100000"/>
                        </a:lnSpc>
                        <a:spcBef>
                          <a:spcPts val="140"/>
                        </a:spcBef>
                      </a:pPr>
                      <a:r>
                        <a:rPr sz="1200" spc="-10" dirty="0">
                          <a:latin typeface="Times New Roman"/>
                          <a:cs typeface="Times New Roman"/>
                        </a:rPr>
                        <a:t>(2023)</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90"/>
                        </a:lnSpc>
                      </a:pPr>
                      <a:r>
                        <a:rPr sz="1200" spc="-10" dirty="0">
                          <a:latin typeface="Times New Roman"/>
                          <a:cs typeface="Times New Roman"/>
                        </a:rPr>
                        <a:t>AI-Based</a:t>
                      </a:r>
                      <a:endParaRPr sz="1200">
                        <a:latin typeface="Times New Roman"/>
                        <a:cs typeface="Times New Roman"/>
                      </a:endParaRPr>
                    </a:p>
                    <a:p>
                      <a:pPr marL="168910" marR="161925" indent="1270" algn="ctr">
                        <a:lnSpc>
                          <a:spcPct val="110000"/>
                        </a:lnSpc>
                      </a:pPr>
                      <a:r>
                        <a:rPr sz="1200" spc="-10" dirty="0">
                          <a:latin typeface="Times New Roman"/>
                          <a:cs typeface="Times New Roman"/>
                        </a:rPr>
                        <a:t>Driver Behavior Monitoring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73355">
                        <a:lnSpc>
                          <a:spcPts val="1390"/>
                        </a:lnSpc>
                      </a:pPr>
                      <a:r>
                        <a:rPr sz="1200" dirty="0">
                          <a:latin typeface="Times New Roman"/>
                          <a:cs typeface="Times New Roman"/>
                        </a:rPr>
                        <a:t>Machine</a:t>
                      </a:r>
                      <a:r>
                        <a:rPr sz="1200" spc="-55" dirty="0">
                          <a:latin typeface="Times New Roman"/>
                          <a:cs typeface="Times New Roman"/>
                        </a:rPr>
                        <a:t> </a:t>
                      </a:r>
                      <a:r>
                        <a:rPr sz="1200" spc="-10" dirty="0">
                          <a:latin typeface="Times New Roman"/>
                          <a:cs typeface="Times New Roman"/>
                        </a:rPr>
                        <a:t>learning</a:t>
                      </a:r>
                      <a:endParaRPr sz="1200">
                        <a:latin typeface="Times New Roman"/>
                        <a:cs typeface="Times New Roman"/>
                      </a:endParaRPr>
                    </a:p>
                    <a:p>
                      <a:pPr marL="228600" marR="220979" indent="50165">
                        <a:lnSpc>
                          <a:spcPct val="110000"/>
                        </a:lnSpc>
                      </a:pPr>
                      <a:r>
                        <a:rPr sz="1200" dirty="0">
                          <a:latin typeface="Times New Roman"/>
                          <a:cs typeface="Times New Roman"/>
                        </a:rPr>
                        <a:t>analyzes</a:t>
                      </a:r>
                      <a:r>
                        <a:rPr sz="1200" spc="-50" dirty="0">
                          <a:latin typeface="Times New Roman"/>
                          <a:cs typeface="Times New Roman"/>
                        </a:rPr>
                        <a:t> </a:t>
                      </a:r>
                      <a:r>
                        <a:rPr sz="1200" spc="-25" dirty="0">
                          <a:latin typeface="Times New Roman"/>
                          <a:cs typeface="Times New Roman"/>
                        </a:rPr>
                        <a:t>IMU </a:t>
                      </a:r>
                      <a:r>
                        <a:rPr sz="1200" dirty="0">
                          <a:latin typeface="Times New Roman"/>
                          <a:cs typeface="Times New Roman"/>
                        </a:rPr>
                        <a:t>driving</a:t>
                      </a:r>
                      <a:r>
                        <a:rPr sz="1200" spc="-35" dirty="0">
                          <a:latin typeface="Times New Roman"/>
                          <a:cs typeface="Times New Roman"/>
                        </a:rPr>
                        <a:t> </a:t>
                      </a:r>
                      <a:r>
                        <a:rPr sz="1200" spc="-10" dirty="0">
                          <a:latin typeface="Times New Roman"/>
                          <a:cs typeface="Times New Roman"/>
                        </a:rPr>
                        <a:t>patterns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90"/>
                        </a:lnSpc>
                      </a:pPr>
                      <a:r>
                        <a:rPr sz="1200" dirty="0">
                          <a:latin typeface="Times New Roman"/>
                          <a:cs typeface="Times New Roman"/>
                        </a:rPr>
                        <a:t>Detects</a:t>
                      </a:r>
                      <a:r>
                        <a:rPr sz="1200" spc="-60" dirty="0">
                          <a:latin typeface="Times New Roman"/>
                          <a:cs typeface="Times New Roman"/>
                        </a:rPr>
                        <a:t> </a:t>
                      </a:r>
                      <a:r>
                        <a:rPr sz="1200" spc="-10" dirty="0">
                          <a:latin typeface="Times New Roman"/>
                          <a:cs typeface="Times New Roman"/>
                        </a:rPr>
                        <a:t>risky</a:t>
                      </a:r>
                      <a:endParaRPr sz="1200">
                        <a:latin typeface="Times New Roman"/>
                        <a:cs typeface="Times New Roman"/>
                      </a:endParaRPr>
                    </a:p>
                    <a:p>
                      <a:pPr marL="249554" marR="245745" indent="1270" algn="ctr">
                        <a:lnSpc>
                          <a:spcPct val="110000"/>
                        </a:lnSpc>
                      </a:pPr>
                      <a:r>
                        <a:rPr sz="1200" spc="-10" dirty="0">
                          <a:latin typeface="Times New Roman"/>
                          <a:cs typeface="Times New Roman"/>
                        </a:rPr>
                        <a:t>driving behaviors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90"/>
                        </a:lnSpc>
                      </a:pPr>
                      <a:r>
                        <a:rPr sz="1200" dirty="0">
                          <a:latin typeface="Times New Roman"/>
                          <a:cs typeface="Times New Roman"/>
                        </a:rPr>
                        <a:t>Needs</a:t>
                      </a:r>
                      <a:r>
                        <a:rPr sz="1200" spc="-45" dirty="0">
                          <a:latin typeface="Times New Roman"/>
                          <a:cs typeface="Times New Roman"/>
                        </a:rPr>
                        <a:t> </a:t>
                      </a:r>
                      <a:r>
                        <a:rPr sz="1200" spc="-10" dirty="0">
                          <a:latin typeface="Times New Roman"/>
                          <a:cs typeface="Times New Roman"/>
                        </a:rPr>
                        <a:t>large</a:t>
                      </a:r>
                      <a:endParaRPr sz="1200">
                        <a:latin typeface="Times New Roman"/>
                        <a:cs typeface="Times New Roman"/>
                      </a:endParaRPr>
                    </a:p>
                    <a:p>
                      <a:pPr algn="ctr">
                        <a:lnSpc>
                          <a:spcPct val="100000"/>
                        </a:lnSpc>
                        <a:spcBef>
                          <a:spcPts val="140"/>
                        </a:spcBef>
                      </a:pPr>
                      <a:r>
                        <a:rPr sz="1200" spc="-10" dirty="0">
                          <a:latin typeface="Times New Roman"/>
                          <a:cs typeface="Times New Roman"/>
                        </a:rPr>
                        <a:t>datasets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707497">
                <a:tc>
                  <a:txBody>
                    <a:bodyPr/>
                    <a:lstStyle/>
                    <a:p>
                      <a:pPr algn="ctr">
                        <a:lnSpc>
                          <a:spcPts val="1380"/>
                        </a:lnSpc>
                      </a:pPr>
                      <a:r>
                        <a:rPr sz="1200" spc="-50" dirty="0">
                          <a:latin typeface="Times New Roman"/>
                          <a:cs typeface="Times New Roman"/>
                        </a:rPr>
                        <a:t>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Zhang</a:t>
                      </a:r>
                      <a:r>
                        <a:rPr sz="1200" spc="-25" dirty="0">
                          <a:latin typeface="Times New Roman"/>
                          <a:cs typeface="Times New Roman"/>
                        </a:rPr>
                        <a:t> </a:t>
                      </a:r>
                      <a:r>
                        <a:rPr sz="1200" dirty="0">
                          <a:latin typeface="Times New Roman"/>
                          <a:cs typeface="Times New Roman"/>
                        </a:rPr>
                        <a:t>et</a:t>
                      </a:r>
                      <a:r>
                        <a:rPr sz="1200" spc="-25" dirty="0">
                          <a:latin typeface="Times New Roman"/>
                          <a:cs typeface="Times New Roman"/>
                        </a:rPr>
                        <a:t> al.</a:t>
                      </a:r>
                      <a:endParaRPr sz="1200">
                        <a:latin typeface="Times New Roman"/>
                        <a:cs typeface="Times New Roman"/>
                      </a:endParaRPr>
                    </a:p>
                    <a:p>
                      <a:pPr algn="ctr">
                        <a:lnSpc>
                          <a:spcPct val="100000"/>
                        </a:lnSpc>
                        <a:spcBef>
                          <a:spcPts val="140"/>
                        </a:spcBef>
                      </a:pPr>
                      <a:r>
                        <a:rPr sz="1200" spc="-10" dirty="0">
                          <a:latin typeface="Times New Roman"/>
                          <a:cs typeface="Times New Roman"/>
                        </a:rPr>
                        <a:t>(2022)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175" algn="ctr">
                        <a:lnSpc>
                          <a:spcPts val="1380"/>
                        </a:lnSpc>
                      </a:pPr>
                      <a:r>
                        <a:rPr sz="1200" dirty="0">
                          <a:latin typeface="Times New Roman"/>
                          <a:cs typeface="Times New Roman"/>
                        </a:rPr>
                        <a:t>Edge</a:t>
                      </a:r>
                      <a:r>
                        <a:rPr sz="1200" spc="-35" dirty="0">
                          <a:latin typeface="Times New Roman"/>
                          <a:cs typeface="Times New Roman"/>
                        </a:rPr>
                        <a:t> AI</a:t>
                      </a:r>
                      <a:endParaRPr sz="1200">
                        <a:latin typeface="Times New Roman"/>
                        <a:cs typeface="Times New Roman"/>
                      </a:endParaRPr>
                    </a:p>
                    <a:p>
                      <a:pPr marL="78740" marR="70485" algn="ctr">
                        <a:lnSpc>
                          <a:spcPct val="110000"/>
                        </a:lnSpc>
                      </a:pPr>
                      <a:r>
                        <a:rPr sz="1200" spc="-10" dirty="0">
                          <a:latin typeface="Times New Roman"/>
                          <a:cs typeface="Times New Roman"/>
                        </a:rPr>
                        <a:t>Vehicle</a:t>
                      </a:r>
                      <a:r>
                        <a:rPr sz="1200" spc="500" dirty="0">
                          <a:latin typeface="Times New Roman"/>
                          <a:cs typeface="Times New Roman"/>
                        </a:rPr>
                        <a:t> </a:t>
                      </a:r>
                      <a:r>
                        <a:rPr sz="1200" dirty="0">
                          <a:latin typeface="Times New Roman"/>
                          <a:cs typeface="Times New Roman"/>
                        </a:rPr>
                        <a:t>Safety</a:t>
                      </a:r>
                      <a:r>
                        <a:rPr sz="1200" spc="-4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07010">
                        <a:lnSpc>
                          <a:spcPts val="1380"/>
                        </a:lnSpc>
                      </a:pPr>
                      <a:r>
                        <a:rPr sz="1200" dirty="0">
                          <a:latin typeface="Times New Roman"/>
                          <a:cs typeface="Times New Roman"/>
                        </a:rPr>
                        <a:t>Edge</a:t>
                      </a:r>
                      <a:r>
                        <a:rPr sz="1200" spc="-35" dirty="0">
                          <a:latin typeface="Times New Roman"/>
                          <a:cs typeface="Times New Roman"/>
                        </a:rPr>
                        <a:t> </a:t>
                      </a:r>
                      <a:r>
                        <a:rPr sz="1200" spc="-10" dirty="0">
                          <a:latin typeface="Times New Roman"/>
                          <a:cs typeface="Times New Roman"/>
                        </a:rPr>
                        <a:t>computing</a:t>
                      </a:r>
                      <a:endParaRPr sz="1200">
                        <a:latin typeface="Times New Roman"/>
                        <a:cs typeface="Times New Roman"/>
                      </a:endParaRPr>
                    </a:p>
                    <a:p>
                      <a:pPr marL="141605" marR="133985" indent="36195">
                        <a:lnSpc>
                          <a:spcPct val="110000"/>
                        </a:lnSpc>
                      </a:pPr>
                      <a:r>
                        <a:rPr sz="1200" dirty="0">
                          <a:latin typeface="Times New Roman"/>
                          <a:cs typeface="Times New Roman"/>
                        </a:rPr>
                        <a:t>processes</a:t>
                      </a:r>
                      <a:r>
                        <a:rPr sz="1200" spc="-65" dirty="0">
                          <a:latin typeface="Times New Roman"/>
                          <a:cs typeface="Times New Roman"/>
                        </a:rPr>
                        <a:t> </a:t>
                      </a:r>
                      <a:r>
                        <a:rPr sz="1200" spc="-10" dirty="0">
                          <a:latin typeface="Times New Roman"/>
                          <a:cs typeface="Times New Roman"/>
                        </a:rPr>
                        <a:t>vehicle </a:t>
                      </a:r>
                      <a:r>
                        <a:rPr sz="1200" dirty="0">
                          <a:latin typeface="Times New Roman"/>
                          <a:cs typeface="Times New Roman"/>
                        </a:rPr>
                        <a:t>sensor</a:t>
                      </a:r>
                      <a:r>
                        <a:rPr sz="1200" spc="-3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locally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Low</a:t>
                      </a:r>
                      <a:r>
                        <a:rPr sz="1200" spc="-40" dirty="0">
                          <a:latin typeface="Times New Roman"/>
                          <a:cs typeface="Times New Roman"/>
                        </a:rPr>
                        <a:t> </a:t>
                      </a:r>
                      <a:r>
                        <a:rPr sz="1200" spc="-10" dirty="0">
                          <a:latin typeface="Times New Roman"/>
                          <a:cs typeface="Times New Roman"/>
                        </a:rPr>
                        <a:t>latency</a:t>
                      </a:r>
                      <a:endParaRPr sz="1200">
                        <a:latin typeface="Times New Roman"/>
                        <a:cs typeface="Times New Roman"/>
                      </a:endParaRPr>
                    </a:p>
                    <a:p>
                      <a:pPr marL="292100" marR="286385" algn="ctr">
                        <a:lnSpc>
                          <a:spcPct val="110000"/>
                        </a:lnSpc>
                      </a:pPr>
                      <a:r>
                        <a:rPr sz="1200" spc="-10" dirty="0">
                          <a:latin typeface="Times New Roman"/>
                          <a:cs typeface="Times New Roman"/>
                        </a:rPr>
                        <a:t>decision making</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spc="-10" dirty="0">
                          <a:latin typeface="Times New Roman"/>
                          <a:cs typeface="Times New Roman"/>
                        </a:rPr>
                        <a:t>Limited</a:t>
                      </a:r>
                      <a:endParaRPr sz="1200">
                        <a:latin typeface="Times New Roman"/>
                        <a:cs typeface="Times New Roman"/>
                      </a:endParaRPr>
                    </a:p>
                    <a:p>
                      <a:pPr marL="67945" marR="61594" algn="ctr">
                        <a:lnSpc>
                          <a:spcPct val="110000"/>
                        </a:lnSpc>
                      </a:pPr>
                      <a:r>
                        <a:rPr sz="1200" spc="-10" dirty="0">
                          <a:latin typeface="Times New Roman"/>
                          <a:cs typeface="Times New Roman"/>
                        </a:rPr>
                        <a:t>microcontroller power</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899897">
                <a:tc>
                  <a:txBody>
                    <a:bodyPr/>
                    <a:lstStyle/>
                    <a:p>
                      <a:pPr algn="ctr">
                        <a:lnSpc>
                          <a:spcPts val="1380"/>
                        </a:lnSpc>
                      </a:pPr>
                      <a:r>
                        <a:rPr sz="1200" spc="-50" dirty="0">
                          <a:latin typeface="Times New Roman"/>
                          <a:cs typeface="Times New Roman"/>
                        </a:rPr>
                        <a:t>5</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Reddy</a:t>
                      </a:r>
                      <a:r>
                        <a:rPr sz="1200" spc="-15" dirty="0">
                          <a:latin typeface="Times New Roman"/>
                          <a:cs typeface="Times New Roman"/>
                        </a:rPr>
                        <a:t> </a:t>
                      </a:r>
                      <a:r>
                        <a:rPr sz="1200" dirty="0">
                          <a:latin typeface="Times New Roman"/>
                          <a:cs typeface="Times New Roman"/>
                        </a:rPr>
                        <a:t>et</a:t>
                      </a:r>
                      <a:r>
                        <a:rPr sz="1200" spc="-15" dirty="0">
                          <a:latin typeface="Times New Roman"/>
                          <a:cs typeface="Times New Roman"/>
                        </a:rPr>
                        <a:t> </a:t>
                      </a:r>
                      <a:r>
                        <a:rPr sz="1200" spc="-25" dirty="0">
                          <a:latin typeface="Times New Roman"/>
                          <a:cs typeface="Times New Roman"/>
                        </a:rPr>
                        <a:t>al.</a:t>
                      </a:r>
                      <a:endParaRPr sz="1200">
                        <a:latin typeface="Times New Roman"/>
                        <a:cs typeface="Times New Roman"/>
                      </a:endParaRPr>
                    </a:p>
                    <a:p>
                      <a:pPr algn="ctr">
                        <a:lnSpc>
                          <a:spcPct val="100000"/>
                        </a:lnSpc>
                        <a:spcBef>
                          <a:spcPts val="140"/>
                        </a:spcBef>
                      </a:pPr>
                      <a:r>
                        <a:rPr sz="1200" spc="-10" dirty="0">
                          <a:latin typeface="Times New Roman"/>
                          <a:cs typeface="Times New Roman"/>
                        </a:rPr>
                        <a:t>(2020)</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49225">
                        <a:lnSpc>
                          <a:spcPts val="1380"/>
                        </a:lnSpc>
                      </a:pPr>
                      <a:r>
                        <a:rPr sz="1200" spc="-10" dirty="0">
                          <a:latin typeface="Times New Roman"/>
                          <a:cs typeface="Times New Roman"/>
                        </a:rPr>
                        <a:t>Smartphone</a:t>
                      </a:r>
                      <a:endParaRPr sz="1200">
                        <a:latin typeface="Times New Roman"/>
                        <a:cs typeface="Times New Roman"/>
                      </a:endParaRPr>
                    </a:p>
                    <a:p>
                      <a:pPr marL="220979" marR="213360" indent="20955">
                        <a:lnSpc>
                          <a:spcPts val="1600"/>
                        </a:lnSpc>
                        <a:spcBef>
                          <a:spcPts val="60"/>
                        </a:spcBef>
                      </a:pPr>
                      <a:r>
                        <a:rPr sz="1200" spc="-10" dirty="0">
                          <a:latin typeface="Times New Roman"/>
                          <a:cs typeface="Times New Roman"/>
                        </a:rPr>
                        <a:t>Accident Detection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dirty="0">
                          <a:latin typeface="Times New Roman"/>
                          <a:cs typeface="Times New Roman"/>
                        </a:rPr>
                        <a:t>Smartphone</a:t>
                      </a:r>
                      <a:r>
                        <a:rPr sz="1200" spc="-60" dirty="0">
                          <a:latin typeface="Times New Roman"/>
                          <a:cs typeface="Times New Roman"/>
                        </a:rPr>
                        <a:t> </a:t>
                      </a:r>
                      <a:r>
                        <a:rPr sz="1200" spc="-25" dirty="0">
                          <a:latin typeface="Times New Roman"/>
                          <a:cs typeface="Times New Roman"/>
                        </a:rPr>
                        <a:t>IMU</a:t>
                      </a:r>
                      <a:endParaRPr sz="1200">
                        <a:latin typeface="Times New Roman"/>
                        <a:cs typeface="Times New Roman"/>
                      </a:endParaRPr>
                    </a:p>
                    <a:p>
                      <a:pPr marL="261620" marR="255904" algn="ctr">
                        <a:lnSpc>
                          <a:spcPts val="1600"/>
                        </a:lnSpc>
                        <a:spcBef>
                          <a:spcPts val="60"/>
                        </a:spcBef>
                      </a:pPr>
                      <a:r>
                        <a:rPr sz="1200" dirty="0">
                          <a:latin typeface="Times New Roman"/>
                          <a:cs typeface="Times New Roman"/>
                        </a:rPr>
                        <a:t>detects</a:t>
                      </a:r>
                      <a:r>
                        <a:rPr sz="1200" spc="-55" dirty="0">
                          <a:latin typeface="Times New Roman"/>
                          <a:cs typeface="Times New Roman"/>
                        </a:rPr>
                        <a:t> </a:t>
                      </a:r>
                      <a:r>
                        <a:rPr sz="1200" spc="-10" dirty="0">
                          <a:latin typeface="Times New Roman"/>
                          <a:cs typeface="Times New Roman"/>
                        </a:rPr>
                        <a:t>sudden impact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80"/>
                        </a:lnSpc>
                      </a:pPr>
                      <a:r>
                        <a:rPr sz="1200" spc="-20" dirty="0">
                          <a:latin typeface="Times New Roman"/>
                          <a:cs typeface="Times New Roman"/>
                        </a:rPr>
                        <a:t>Low-</a:t>
                      </a:r>
                      <a:r>
                        <a:rPr sz="1200" dirty="0">
                          <a:latin typeface="Times New Roman"/>
                          <a:cs typeface="Times New Roman"/>
                        </a:rPr>
                        <a:t>cost</a:t>
                      </a:r>
                      <a:r>
                        <a:rPr sz="1200" spc="20" dirty="0">
                          <a:latin typeface="Times New Roman"/>
                          <a:cs typeface="Times New Roman"/>
                        </a:rPr>
                        <a:t> </a:t>
                      </a:r>
                      <a:r>
                        <a:rPr sz="1200" spc="-10" dirty="0">
                          <a:latin typeface="Times New Roman"/>
                          <a:cs typeface="Times New Roman"/>
                        </a:rPr>
                        <a:t>crash</a:t>
                      </a:r>
                      <a:endParaRPr sz="1200">
                        <a:latin typeface="Times New Roman"/>
                        <a:cs typeface="Times New Roman"/>
                      </a:endParaRPr>
                    </a:p>
                    <a:p>
                      <a:pPr algn="ctr">
                        <a:lnSpc>
                          <a:spcPct val="100000"/>
                        </a:lnSpc>
                        <a:spcBef>
                          <a:spcPts val="140"/>
                        </a:spcBef>
                      </a:pPr>
                      <a:r>
                        <a:rPr sz="1200" spc="-10" dirty="0">
                          <a:latin typeface="Times New Roman"/>
                          <a:cs typeface="Times New Roman"/>
                        </a:rPr>
                        <a:t>detection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51790">
                        <a:lnSpc>
                          <a:spcPts val="1380"/>
                        </a:lnSpc>
                      </a:pPr>
                      <a:r>
                        <a:rPr sz="1200" spc="-10" dirty="0">
                          <a:latin typeface="Times New Roman"/>
                          <a:cs typeface="Times New Roman"/>
                        </a:rPr>
                        <a:t>Phone</a:t>
                      </a:r>
                      <a:endParaRPr sz="1200" dirty="0">
                        <a:latin typeface="Times New Roman"/>
                        <a:cs typeface="Times New Roman"/>
                      </a:endParaRPr>
                    </a:p>
                    <a:p>
                      <a:pPr marL="339725" indent="-128270">
                        <a:lnSpc>
                          <a:spcPct val="100000"/>
                        </a:lnSpc>
                        <a:spcBef>
                          <a:spcPts val="140"/>
                        </a:spcBef>
                      </a:pPr>
                      <a:r>
                        <a:rPr sz="1200" spc="-10" dirty="0">
                          <a:latin typeface="Times New Roman"/>
                          <a:cs typeface="Times New Roman"/>
                        </a:rPr>
                        <a:t>orientation</a:t>
                      </a:r>
                      <a:endParaRPr sz="1200" dirty="0">
                        <a:latin typeface="Times New Roman"/>
                        <a:cs typeface="Times New Roman"/>
                      </a:endParaRPr>
                    </a:p>
                    <a:p>
                      <a:pPr marL="271145" marR="266700" indent="68580">
                        <a:lnSpc>
                          <a:spcPct val="110000"/>
                        </a:lnSpc>
                        <a:spcBef>
                          <a:spcPts val="15"/>
                        </a:spcBef>
                      </a:pPr>
                      <a:r>
                        <a:rPr sz="1200" spc="-10" dirty="0">
                          <a:latin typeface="Times New Roman"/>
                          <a:cs typeface="Times New Roman"/>
                        </a:rPr>
                        <a:t>affects accuracy</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8" name="object 5">
            <a:extLst>
              <a:ext uri="{FF2B5EF4-FFF2-40B4-BE49-F238E27FC236}">
                <a16:creationId xmlns:a16="http://schemas.microsoft.com/office/drawing/2014/main" id="{7BD769DD-833E-B506-9283-7F9264316680}"/>
              </a:ext>
            </a:extLst>
          </p:cNvPr>
          <p:cNvSpPr txBox="1"/>
          <p:nvPr/>
        </p:nvSpPr>
        <p:spPr>
          <a:xfrm>
            <a:off x="1072437" y="643173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683" rIns="0" bIns="0" rtlCol="0">
            <a:spAutoFit/>
          </a:bodyPr>
          <a:lstStyle/>
          <a:p>
            <a:pPr marL="12700">
              <a:lnSpc>
                <a:spcPct val="100000"/>
              </a:lnSpc>
              <a:spcBef>
                <a:spcPts val="125"/>
              </a:spcBef>
            </a:pPr>
            <a:r>
              <a:rPr dirty="0"/>
              <a:t>Need of</a:t>
            </a:r>
            <a:r>
              <a:rPr spc="5" dirty="0"/>
              <a:t> </a:t>
            </a:r>
            <a:r>
              <a:rPr dirty="0"/>
              <a:t>the</a:t>
            </a:r>
            <a:r>
              <a:rPr spc="-5" dirty="0"/>
              <a:t> </a:t>
            </a:r>
            <a:r>
              <a:rPr spc="-10" dirty="0"/>
              <a:t>Project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5</a:t>
            </a:fld>
            <a:endParaRPr spc="-25" dirty="0"/>
          </a:p>
        </p:txBody>
      </p:sp>
      <p:sp>
        <p:nvSpPr>
          <p:cNvPr id="3" name="object 3"/>
          <p:cNvSpPr txBox="1"/>
          <p:nvPr/>
        </p:nvSpPr>
        <p:spPr>
          <a:xfrm>
            <a:off x="570074" y="1219200"/>
            <a:ext cx="7811925" cy="4229363"/>
          </a:xfrm>
          <a:prstGeom prst="rect">
            <a:avLst/>
          </a:prstGeom>
        </p:spPr>
        <p:txBody>
          <a:bodyPr vert="horz" wrap="square" lIns="0" tIns="12700" rIns="0" bIns="0" rtlCol="0">
            <a:spAutoFit/>
          </a:bodyPr>
          <a:lstStyle/>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Road accidents often occur suddenly and victims may not be able to inform emergency services immediately.</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Traditional accident reporting methods rely on manual communication, which can delay rescue operations.</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Lack of real-time monitoring of vehicle conditions makes early accident detection difficult.</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Sensor data such as acceleration, speed, and environmental conditions can provide important indicators of crash events.</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Therefore, an IoT and Machine Learning based accident detection and prediction system is required to automatically identify accidents and send immediate alerts with location information</a:t>
            </a:r>
            <a:r>
              <a:rPr lang="en-US" sz="2200" dirty="0">
                <a:latin typeface="Times New Roman" panose="02020603050405020304" pitchFamily="18" charset="0"/>
                <a:cs typeface="Times New Roman" panose="02020603050405020304" pitchFamily="18" charset="0"/>
              </a:rPr>
              <a:t>.</a:t>
            </a:r>
          </a:p>
        </p:txBody>
      </p:sp>
      <p:sp>
        <p:nvSpPr>
          <p:cNvPr id="7" name="object 5">
            <a:extLst>
              <a:ext uri="{FF2B5EF4-FFF2-40B4-BE49-F238E27FC236}">
                <a16:creationId xmlns:a16="http://schemas.microsoft.com/office/drawing/2014/main" id="{E4B80039-CFB0-3ABC-47EE-CF9F7D341651}"/>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1961" y="1219200"/>
            <a:ext cx="8220075" cy="2504532"/>
          </a:xfrm>
          <a:prstGeom prst="rect">
            <a:avLst/>
          </a:prstGeom>
        </p:spPr>
        <p:txBody>
          <a:bodyPr vert="horz" wrap="square" lIns="0" tIns="11430" rIns="0" bIns="0" rtlCol="0">
            <a:spAutoFit/>
          </a:bodyPr>
          <a:lstStyle/>
          <a:p>
            <a:pPr marL="12700" marR="5080" indent="914400" algn="just">
              <a:spcBef>
                <a:spcPts val="5"/>
              </a:spcBef>
            </a:pPr>
            <a:r>
              <a:rPr lang="en-US" dirty="0">
                <a:latin typeface="Times New Roman" panose="02020603050405020304" pitchFamily="18" charset="0"/>
                <a:cs typeface="Times New Roman" panose="02020603050405020304" pitchFamily="18" charset="0"/>
              </a:rPr>
              <a:t>Road accidents occur frequently, and in many cases there is limited information available about the exact cause of the crash. Most vehicles do not record important parameters such as speed, motion data, or location, which can delay rescue operations and complicate insurance investigations. Without reliable data, it becomes difficult to determine what actually happened during the accident. This project addresses this problem by developing an intelligent system that continuously monitors vehicle conditions using sensors and machine learning. The </a:t>
            </a:r>
            <a:r>
              <a:rPr lang="en-US" dirty="0">
                <a:highlight>
                  <a:srgbClr val="FFFF00"/>
                </a:highlight>
                <a:latin typeface="Times New Roman" panose="02020603050405020304" pitchFamily="18" charset="0"/>
                <a:cs typeface="Times New Roman" panose="02020603050405020304" pitchFamily="18" charset="0"/>
              </a:rPr>
              <a:t>system can detect accidents automatically, send emergency alerts with GPS location</a:t>
            </a:r>
            <a:r>
              <a:rPr lang="en-US" dirty="0">
                <a:latin typeface="Times New Roman" panose="02020603050405020304" pitchFamily="18" charset="0"/>
                <a:cs typeface="Times New Roman" panose="02020603050405020304" pitchFamily="18" charset="0"/>
              </a:rPr>
              <a:t>, and securely record accident-related data to support faster response and fair analysis.</a:t>
            </a:r>
            <a:endParaRPr lang="en-US" dirty="0">
              <a:solidFill>
                <a:schemeClr val="tx1"/>
              </a:solidFill>
              <a:latin typeface="Times New Roman" panose="02020603050405020304" pitchFamily="18" charset="0"/>
              <a:ea typeface="+mn-ea"/>
              <a:cs typeface="Times New Roman" panose="02020603050405020304" pitchFamily="18" charset="0"/>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6</a:t>
            </a:fld>
            <a:endParaRPr spc="-25" dirty="0"/>
          </a:p>
        </p:txBody>
      </p:sp>
      <p:sp>
        <p:nvSpPr>
          <p:cNvPr id="3" name="object 3"/>
          <p:cNvSpPr txBox="1">
            <a:spLocks noGrp="1"/>
          </p:cNvSpPr>
          <p:nvPr>
            <p:ph type="title"/>
          </p:nvPr>
        </p:nvSpPr>
        <p:spPr>
          <a:xfrm>
            <a:off x="570074" y="236081"/>
            <a:ext cx="8003851" cy="575549"/>
          </a:xfrm>
          <a:prstGeom prst="rect">
            <a:avLst/>
          </a:prstGeom>
        </p:spPr>
        <p:txBody>
          <a:bodyPr vert="horz" wrap="square" lIns="0" tIns="74683" rIns="0" bIns="0" rtlCol="0">
            <a:spAutoFit/>
          </a:bodyPr>
          <a:lstStyle/>
          <a:p>
            <a:pPr marL="12700">
              <a:lnSpc>
                <a:spcPct val="100000"/>
              </a:lnSpc>
              <a:spcBef>
                <a:spcPts val="125"/>
              </a:spcBef>
            </a:pPr>
            <a:r>
              <a:rPr dirty="0"/>
              <a:t>Problem</a:t>
            </a:r>
            <a:r>
              <a:rPr spc="-25" dirty="0"/>
              <a:t> </a:t>
            </a:r>
            <a:r>
              <a:rPr dirty="0"/>
              <a:t>Statement</a:t>
            </a:r>
            <a:r>
              <a:rPr spc="-25" dirty="0"/>
              <a:t> </a:t>
            </a:r>
            <a:endParaRPr spc="-10" dirty="0"/>
          </a:p>
        </p:txBody>
      </p:sp>
      <p:pic>
        <p:nvPicPr>
          <p:cNvPr id="7" name="Picture 6">
            <a:extLst>
              <a:ext uri="{FF2B5EF4-FFF2-40B4-BE49-F238E27FC236}">
                <a16:creationId xmlns:a16="http://schemas.microsoft.com/office/drawing/2014/main" id="{371E1454-7482-3E2F-2E7F-7BA72FA01D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07077" y="3818982"/>
            <a:ext cx="3401786" cy="2267857"/>
          </a:xfrm>
          <a:prstGeom prst="rect">
            <a:avLst/>
          </a:prstGeom>
        </p:spPr>
      </p:pic>
      <p:sp>
        <p:nvSpPr>
          <p:cNvPr id="8" name="object 5">
            <a:extLst>
              <a:ext uri="{FF2B5EF4-FFF2-40B4-BE49-F238E27FC236}">
                <a16:creationId xmlns:a16="http://schemas.microsoft.com/office/drawing/2014/main" id="{B1973263-4B05-6BBF-7E6C-416A56897F1A}"/>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4" name="TextBox 3">
            <a:extLst>
              <a:ext uri="{FF2B5EF4-FFF2-40B4-BE49-F238E27FC236}">
                <a16:creationId xmlns:a16="http://schemas.microsoft.com/office/drawing/2014/main" id="{597ED909-4E49-A89C-52B3-FEFC0D1F0302}"/>
              </a:ext>
            </a:extLst>
          </p:cNvPr>
          <p:cNvSpPr txBox="1"/>
          <p:nvPr/>
        </p:nvSpPr>
        <p:spPr>
          <a:xfrm>
            <a:off x="3733800" y="5920479"/>
            <a:ext cx="3401786" cy="523220"/>
          </a:xfrm>
          <a:prstGeom prst="rect">
            <a:avLst/>
          </a:prstGeom>
          <a:noFill/>
        </p:spPr>
        <p:txBody>
          <a:bodyPr wrap="square" rtlCol="0">
            <a:spAutoFit/>
          </a:bodyPr>
          <a:lstStyle>
            <a:defPPr>
              <a:defRPr kern="0"/>
            </a:defPPr>
            <a:lvl1pPr algn="l">
              <a:defRPr sz="1600" i="1"/>
            </a:lvl1pPr>
          </a:lstStyle>
          <a:p>
            <a:r>
              <a:rPr lang="" sz="1200" dirty="0"/>
              <a:t>Fig. 2 Problem statement </a:t>
            </a:r>
          </a:p>
          <a:p>
            <a:endParaRPr lang=""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z="3950" dirty="0">
                <a:latin typeface="Calibri"/>
                <a:cs typeface="Calibri"/>
              </a:rPr>
              <a:t>SDGs</a:t>
            </a:r>
            <a:r>
              <a:rPr sz="3950" spc="-15" dirty="0">
                <a:latin typeface="Calibri"/>
                <a:cs typeface="Calibri"/>
              </a:rPr>
              <a:t> </a:t>
            </a:r>
            <a:r>
              <a:rPr sz="3950" spc="-10" dirty="0">
                <a:latin typeface="Calibri"/>
                <a:cs typeface="Calibri"/>
              </a:rPr>
              <a:t>Mapped</a:t>
            </a:r>
            <a:endParaRPr sz="3950" dirty="0">
              <a:latin typeface="Calibri"/>
              <a:cs typeface="Calibri"/>
            </a:endParaRPr>
          </a:p>
        </p:txBody>
      </p:sp>
      <p:sp>
        <p:nvSpPr>
          <p:cNvPr id="3" name="object 3"/>
          <p:cNvSpPr txBox="1"/>
          <p:nvPr/>
        </p:nvSpPr>
        <p:spPr>
          <a:xfrm>
            <a:off x="542102" y="1957411"/>
            <a:ext cx="7545226" cy="3409267"/>
          </a:xfrm>
          <a:prstGeom prst="rect">
            <a:avLst/>
          </a:prstGeom>
        </p:spPr>
        <p:txBody>
          <a:bodyPr vert="horz" wrap="square" lIns="0" tIns="84455" rIns="0" bIns="0" rtlCol="0">
            <a:spAutoFit/>
          </a:bodyPr>
          <a:lstStyle/>
          <a:p>
            <a:pPr marL="342900" indent="-34290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Good Health and Well-Being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helps reduce fatalities by automatically detecting accidents and sending emergency alerts for faster medical assistance.</a:t>
            </a:r>
          </a:p>
          <a:p>
            <a:pPr marL="342900" indent="-342900" algn="l">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Industry, Innovation and Infrastructure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project integrates IoT sensors, </a:t>
            </a:r>
            <a:r>
              <a:rPr lang="en-US" sz="1600" dirty="0">
                <a:latin typeface="Times New Roman" panose="02020603050405020304" pitchFamily="18" charset="0"/>
                <a:cs typeface="Times New Roman" panose="02020603050405020304" pitchFamily="18" charset="0"/>
              </a:rPr>
              <a:t>GPS</a:t>
            </a:r>
            <a:r>
              <a:rPr lang="en-US" dirty="0">
                <a:latin typeface="Times New Roman" panose="02020603050405020304" pitchFamily="18" charset="0"/>
                <a:cs typeface="Times New Roman" panose="02020603050405020304" pitchFamily="18" charset="0"/>
              </a:rPr>
              <a:t>, and machine learning to develop an intelligent vehicle safety monitoring system.</a:t>
            </a:r>
          </a:p>
          <a:p>
            <a:pPr marL="342900" indent="-342900" algn="l">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Sustainable Cities and Communities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improving accident detection and response time, the system contributes to safer and smarter transportation systems.</a:t>
            </a:r>
          </a:p>
          <a:p>
            <a:pPr marL="342900" indent="-342900" algn="l">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Partnerships for the Goals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enables coordination between emergency services, hospitals, and authorities for quicker accident response.</a:t>
            </a:r>
          </a:p>
        </p:txBody>
      </p:sp>
      <p:sp>
        <p:nvSpPr>
          <p:cNvPr id="6" name="TextBox 5">
            <a:extLst>
              <a:ext uri="{FF2B5EF4-FFF2-40B4-BE49-F238E27FC236}">
                <a16:creationId xmlns:a16="http://schemas.microsoft.com/office/drawing/2014/main" id="{AD145F63-0183-67D0-7F11-63C0ECA5F437}"/>
              </a:ext>
            </a:extLst>
          </p:cNvPr>
          <p:cNvSpPr txBox="1"/>
          <p:nvPr/>
        </p:nvSpPr>
        <p:spPr>
          <a:xfrm>
            <a:off x="457200" y="1330903"/>
            <a:ext cx="6673749"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Sustainable Development Goals Related to the Project</a:t>
            </a:r>
            <a:endParaRPr lang="en-IN" sz="2000" b="1" dirty="0">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5C826A72-2C14-625C-D514-347D63C8B211}"/>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5" name="object 5">
            <a:extLst>
              <a:ext uri="{FF2B5EF4-FFF2-40B4-BE49-F238E27FC236}">
                <a16:creationId xmlns:a16="http://schemas.microsoft.com/office/drawing/2014/main" id="{02527C80-A219-D71B-A0F0-90FE3E2591D3}"/>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9881-C419-F3AF-59B6-2CD1707DA9D6}"/>
              </a:ext>
            </a:extLst>
          </p:cNvPr>
          <p:cNvSpPr>
            <a:spLocks noGrp="1"/>
          </p:cNvSpPr>
          <p:nvPr>
            <p:ph type="title"/>
          </p:nvPr>
        </p:nvSpPr>
        <p:spPr>
          <a:xfrm>
            <a:off x="570074" y="236081"/>
            <a:ext cx="8003851" cy="500137"/>
          </a:xfrm>
        </p:spPr>
        <p:txBody>
          <a:bodyPr/>
          <a:lstStyle/>
          <a:p>
            <a:r>
              <a:rPr lang="en-IN" dirty="0"/>
              <a:t>System Architecture</a:t>
            </a:r>
          </a:p>
        </p:txBody>
      </p:sp>
      <p:sp>
        <p:nvSpPr>
          <p:cNvPr id="5" name="AutoShape 4">
            <a:extLst>
              <a:ext uri="{FF2B5EF4-FFF2-40B4-BE49-F238E27FC236}">
                <a16:creationId xmlns:a16="http://schemas.microsoft.com/office/drawing/2014/main" id="{5A1BDC84-DAED-B9EB-EA5E-98365D5670D2}"/>
              </a:ext>
            </a:extLst>
          </p:cNvPr>
          <p:cNvSpPr>
            <a:spLocks noChangeAspect="1" noChangeArrowheads="1"/>
          </p:cNvSpPr>
          <p:nvPr/>
        </p:nvSpPr>
        <p:spPr bwMode="auto">
          <a:xfrm>
            <a:off x="1219200" y="76200"/>
            <a:ext cx="3505200" cy="3505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EC25C780-3A1D-A8C9-76A6-725098CE62E5}"/>
              </a:ext>
            </a:extLst>
          </p:cNvPr>
          <p:cNvPicPr>
            <a:picLocks noChangeAspect="1"/>
          </p:cNvPicPr>
          <p:nvPr/>
        </p:nvPicPr>
        <p:blipFill>
          <a:blip r:embed="rId2" cstate="print">
            <a:extLst>
              <a:ext uri="{28A0092B-C50C-407E-A947-70E740481C1C}">
                <a14:useLocalDpi xmlns:a14="http://schemas.microsoft.com/office/drawing/2010/main" val="0"/>
              </a:ext>
            </a:extLst>
          </a:blip>
          <a:srcRect t="21666" b="23333"/>
          <a:stretch>
            <a:fillRect/>
          </a:stretch>
        </p:blipFill>
        <p:spPr>
          <a:xfrm>
            <a:off x="1397452" y="3719158"/>
            <a:ext cx="6349093" cy="2328001"/>
          </a:xfrm>
          <a:prstGeom prst="rect">
            <a:avLst/>
          </a:prstGeom>
        </p:spPr>
      </p:pic>
      <p:sp>
        <p:nvSpPr>
          <p:cNvPr id="9" name="TextBox 8">
            <a:extLst>
              <a:ext uri="{FF2B5EF4-FFF2-40B4-BE49-F238E27FC236}">
                <a16:creationId xmlns:a16="http://schemas.microsoft.com/office/drawing/2014/main" id="{C9331946-42A9-D6EE-3247-0D6CF4E05570}"/>
              </a:ext>
            </a:extLst>
          </p:cNvPr>
          <p:cNvSpPr txBox="1"/>
          <p:nvPr/>
        </p:nvSpPr>
        <p:spPr>
          <a:xfrm>
            <a:off x="457200" y="1133835"/>
            <a:ext cx="7848600" cy="258532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        The system architecture shows how sensor data is collected, processed, and used to detect accidents. Vehicle sensors such as the </a:t>
            </a:r>
            <a:r>
              <a:rPr lang="en-US" b="1" dirty="0">
                <a:latin typeface="Times New Roman" panose="02020603050405020304" pitchFamily="18" charset="0"/>
                <a:cs typeface="Times New Roman" panose="02020603050405020304" pitchFamily="18" charset="0"/>
              </a:rPr>
              <a:t>MPU6050</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DHT22</a:t>
            </a:r>
            <a:r>
              <a:rPr lang="en-US" dirty="0">
                <a:latin typeface="Times New Roman" panose="02020603050405020304" pitchFamily="18" charset="0"/>
                <a:cs typeface="Times New Roman" panose="02020603050405020304" pitchFamily="18" charset="0"/>
              </a:rPr>
              <a:t>, microphone, and </a:t>
            </a:r>
            <a:r>
              <a:rPr lang="en-US" b="1" dirty="0">
                <a:latin typeface="Times New Roman" panose="02020603050405020304" pitchFamily="18" charset="0"/>
                <a:cs typeface="Times New Roman" panose="02020603050405020304" pitchFamily="18" charset="0"/>
              </a:rPr>
              <a:t>NEO-7M GPS Module</a:t>
            </a:r>
            <a:r>
              <a:rPr lang="en-US" dirty="0">
                <a:latin typeface="Times New Roman" panose="02020603050405020304" pitchFamily="18" charset="0"/>
                <a:cs typeface="Times New Roman" panose="02020603050405020304" pitchFamily="18" charset="0"/>
              </a:rPr>
              <a:t> continuously monitor vehicle motion and environmental conditions. The data is sent to the </a:t>
            </a:r>
            <a:r>
              <a:rPr lang="en-US" b="1" dirty="0">
                <a:latin typeface="Times New Roman" panose="02020603050405020304" pitchFamily="18" charset="0"/>
                <a:cs typeface="Times New Roman" panose="02020603050405020304" pitchFamily="18" charset="0"/>
              </a:rPr>
              <a:t>ESP32</a:t>
            </a:r>
            <a:r>
              <a:rPr lang="en-US" dirty="0">
                <a:latin typeface="Times New Roman" panose="02020603050405020304" pitchFamily="18" charset="0"/>
                <a:cs typeface="Times New Roman" panose="02020603050405020304" pitchFamily="18" charset="0"/>
              </a:rPr>
              <a:t>, which transmits the information to a computer system for processing. A machine learning model developed </a:t>
            </a:r>
            <a:r>
              <a:rPr lang="en-US" sz="1600" dirty="0">
                <a:latin typeface="Times New Roman" panose="02020603050405020304" pitchFamily="18" charset="0"/>
                <a:cs typeface="Times New Roman" panose="02020603050405020304" pitchFamily="18" charset="0"/>
              </a:rPr>
              <a:t>using</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analyzes the sensor data to detect abnormal patterns indicating an accident. When a crash is detected, the system retrieves the GPS location and generates an alert with the exact location for quick emergency response. </a:t>
            </a:r>
            <a:endParaRPr lang="en-IN"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a16="http://schemas.microsoft.com/office/drawing/2014/main" id="{9DE2E958-0C1C-08E4-6AD8-5C968B39EDD7}"/>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3" name="TextBox 2">
            <a:extLst>
              <a:ext uri="{FF2B5EF4-FFF2-40B4-BE49-F238E27FC236}">
                <a16:creationId xmlns:a16="http://schemas.microsoft.com/office/drawing/2014/main" id="{71D78E20-D303-5B91-2C34-9B51FF862D7E}"/>
              </a:ext>
            </a:extLst>
          </p:cNvPr>
          <p:cNvSpPr txBox="1"/>
          <p:nvPr/>
        </p:nvSpPr>
        <p:spPr>
          <a:xfrm>
            <a:off x="3505200" y="5808662"/>
            <a:ext cx="3324908" cy="276999"/>
          </a:xfrm>
          <a:prstGeom prst="rect">
            <a:avLst/>
          </a:prstGeom>
          <a:noFill/>
        </p:spPr>
        <p:txBody>
          <a:bodyPr wrap="square" rtlCol="0">
            <a:spAutoFit/>
          </a:bodyPr>
          <a:lstStyle/>
          <a:p>
            <a:pPr algn="l"/>
            <a:r>
              <a:rPr lang="" sz="1200" i="1" dirty="0"/>
              <a:t>Fig 3. System Architecture </a:t>
            </a:r>
          </a:p>
        </p:txBody>
      </p:sp>
      <p:sp>
        <p:nvSpPr>
          <p:cNvPr id="8" name="object 5">
            <a:extLst>
              <a:ext uri="{FF2B5EF4-FFF2-40B4-BE49-F238E27FC236}">
                <a16:creationId xmlns:a16="http://schemas.microsoft.com/office/drawing/2014/main" id="{EE45BCE5-FF8D-5742-281A-94F1E7618160}"/>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8</a:t>
            </a:fld>
            <a:endParaRPr spc="-25" dirty="0"/>
          </a:p>
        </p:txBody>
      </p:sp>
    </p:spTree>
    <p:extLst>
      <p:ext uri="{BB962C8B-B14F-4D97-AF65-F5344CB8AC3E}">
        <p14:creationId xmlns:p14="http://schemas.microsoft.com/office/powerpoint/2010/main" val="50827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757" rIns="0" bIns="0" rtlCol="0">
            <a:spAutoFit/>
          </a:bodyPr>
          <a:lstStyle/>
          <a:p>
            <a:pPr marL="12700">
              <a:lnSpc>
                <a:spcPct val="100000"/>
              </a:lnSpc>
              <a:spcBef>
                <a:spcPts val="125"/>
              </a:spcBef>
            </a:pPr>
            <a:r>
              <a:rPr spc="-10" dirty="0"/>
              <a:t>Methodology</a:t>
            </a:r>
          </a:p>
        </p:txBody>
      </p:sp>
      <p:sp>
        <p:nvSpPr>
          <p:cNvPr id="5" name="object 5"/>
          <p:cNvSpPr txBox="1"/>
          <p:nvPr/>
        </p:nvSpPr>
        <p:spPr>
          <a:xfrm>
            <a:off x="8736350" y="6621938"/>
            <a:ext cx="205740" cy="203200"/>
          </a:xfrm>
          <a:prstGeom prst="rect">
            <a:avLst/>
          </a:prstGeom>
        </p:spPr>
        <p:txBody>
          <a:bodyPr vert="horz" wrap="square" lIns="0" tIns="0" rIns="0" bIns="0" rtlCol="0">
            <a:spAutoFit/>
          </a:bodyPr>
          <a:lstStyle/>
          <a:p>
            <a:pPr marL="12700">
              <a:lnSpc>
                <a:spcPts val="1430"/>
              </a:lnSpc>
            </a:pPr>
            <a:r>
              <a:rPr sz="1400" spc="-25" dirty="0">
                <a:solidFill>
                  <a:srgbClr val="FFFFFF"/>
                </a:solidFill>
                <a:latin typeface="Calibri"/>
                <a:cs typeface="Calibri"/>
              </a:rPr>
              <a:t>14</a:t>
            </a:r>
            <a:endParaRPr sz="1400">
              <a:latin typeface="Calibri"/>
              <a:cs typeface="Calibri"/>
            </a:endParaRPr>
          </a:p>
        </p:txBody>
      </p:sp>
      <p:pic>
        <p:nvPicPr>
          <p:cNvPr id="3" name="Picture 2">
            <a:extLst>
              <a:ext uri="{FF2B5EF4-FFF2-40B4-BE49-F238E27FC236}">
                <a16:creationId xmlns:a16="http://schemas.microsoft.com/office/drawing/2014/main" id="{2920787D-7729-0A81-644C-0107FB15C296}"/>
              </a:ext>
            </a:extLst>
          </p:cNvPr>
          <p:cNvPicPr>
            <a:picLocks noChangeAspect="1"/>
          </p:cNvPicPr>
          <p:nvPr/>
        </p:nvPicPr>
        <p:blipFill>
          <a:blip r:embed="rId2" cstate="print">
            <a:extLst>
              <a:ext uri="{28A0092B-C50C-407E-A947-70E740481C1C}">
                <a14:useLocalDpi xmlns:a14="http://schemas.microsoft.com/office/drawing/2010/main" val="0"/>
              </a:ext>
            </a:extLst>
          </a:blip>
          <a:srcRect t="5721" b="9711"/>
          <a:stretch>
            <a:fillRect/>
          </a:stretch>
        </p:blipFill>
        <p:spPr>
          <a:xfrm>
            <a:off x="2834279" y="1224160"/>
            <a:ext cx="3475439" cy="4520463"/>
          </a:xfrm>
          <a:prstGeom prst="rect">
            <a:avLst/>
          </a:prstGeom>
        </p:spPr>
      </p:pic>
      <p:sp>
        <p:nvSpPr>
          <p:cNvPr id="8" name="TextBox 7">
            <a:extLst>
              <a:ext uri="{FF2B5EF4-FFF2-40B4-BE49-F238E27FC236}">
                <a16:creationId xmlns:a16="http://schemas.microsoft.com/office/drawing/2014/main" id="{62325B2C-F8F5-2628-A20E-238DAAF62B48}"/>
              </a:ext>
            </a:extLst>
          </p:cNvPr>
          <p:cNvSpPr txBox="1"/>
          <p:nvPr/>
        </p:nvSpPr>
        <p:spPr>
          <a:xfrm>
            <a:off x="3886200" y="5716914"/>
            <a:ext cx="1866902" cy="276999"/>
          </a:xfrm>
          <a:prstGeom prst="rect">
            <a:avLst/>
          </a:prstGeom>
          <a:noFill/>
        </p:spPr>
        <p:txBody>
          <a:bodyPr wrap="square" rtlCol="0">
            <a:spAutoFit/>
          </a:bodyPr>
          <a:lstStyle/>
          <a:p>
            <a:pPr algn="l"/>
            <a:r>
              <a:rPr lang="" sz="1200" i="1" dirty="0">
                <a:latin typeface="Times New Roman" panose="02020603050405020304" pitchFamily="18" charset="0"/>
                <a:cs typeface="Times New Roman" panose="02020603050405020304" pitchFamily="18" charset="0"/>
              </a:rPr>
              <a:t>Fig 4.Flowchart</a:t>
            </a:r>
          </a:p>
        </p:txBody>
      </p:sp>
      <p:sp>
        <p:nvSpPr>
          <p:cNvPr id="9" name="object 5">
            <a:extLst>
              <a:ext uri="{FF2B5EF4-FFF2-40B4-BE49-F238E27FC236}">
                <a16:creationId xmlns:a16="http://schemas.microsoft.com/office/drawing/2014/main" id="{01E23468-46D5-4136-5757-F06EE7D83124}"/>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6" name="object 5">
            <a:extLst>
              <a:ext uri="{FF2B5EF4-FFF2-40B4-BE49-F238E27FC236}">
                <a16:creationId xmlns:a16="http://schemas.microsoft.com/office/drawing/2014/main" id="{EA65CD6D-94B1-3C7C-F0A0-D3A70BE873B3}"/>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757" rIns="0" bIns="0" rtlCol="0">
            <a:spAutoFit/>
          </a:bodyPr>
          <a:lstStyle/>
          <a:p>
            <a:pPr marL="12700">
              <a:lnSpc>
                <a:spcPct val="100000"/>
              </a:lnSpc>
              <a:spcBef>
                <a:spcPts val="125"/>
              </a:spcBef>
            </a:pPr>
            <a:r>
              <a:rPr spc="-10" dirty="0"/>
              <a:t>Methodology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10</a:t>
            </a:fld>
            <a:endParaRPr spc="-25" dirty="0"/>
          </a:p>
        </p:txBody>
      </p:sp>
      <p:sp>
        <p:nvSpPr>
          <p:cNvPr id="3" name="object 3"/>
          <p:cNvSpPr txBox="1"/>
          <p:nvPr/>
        </p:nvSpPr>
        <p:spPr>
          <a:xfrm>
            <a:off x="550642" y="1280206"/>
            <a:ext cx="7428865" cy="4297587"/>
          </a:xfrm>
          <a:prstGeom prst="rect">
            <a:avLst/>
          </a:prstGeom>
        </p:spPr>
        <p:txBody>
          <a:bodyPr vert="horz" wrap="square" lIns="0" tIns="12700" rIns="0" bIns="0" rtlCol="0">
            <a:spAutoFit/>
          </a:bodyPr>
          <a:lstStyle/>
          <a:p>
            <a:pPr marL="266700" indent="-254000">
              <a:lnSpc>
                <a:spcPct val="100000"/>
              </a:lnSpc>
              <a:spcBef>
                <a:spcPts val="100"/>
              </a:spcBef>
              <a:buAutoNum type="arabicPeriod"/>
              <a:tabLst>
                <a:tab pos="266700" algn="l"/>
              </a:tabLst>
            </a:pPr>
            <a:r>
              <a:rPr sz="2000" b="1" dirty="0">
                <a:latin typeface="Times New Roman"/>
                <a:cs typeface="Times New Roman"/>
              </a:rPr>
              <a:t>Dataset </a:t>
            </a:r>
            <a:r>
              <a:rPr sz="2000" b="1" spc="-10" dirty="0">
                <a:latin typeface="Times New Roman"/>
                <a:cs typeface="Times New Roman"/>
              </a:rPr>
              <a:t>Collection</a:t>
            </a:r>
            <a:endParaRPr lang="en-US" sz="2000" dirty="0">
              <a:latin typeface="Times New Roman"/>
              <a:cs typeface="Times New Roman"/>
            </a:endParaRPr>
          </a:p>
          <a:p>
            <a:pPr marL="125730" lvl="1">
              <a:lnSpc>
                <a:spcPct val="150000"/>
              </a:lnSpc>
              <a:spcBef>
                <a:spcPts val="1580"/>
              </a:spcBef>
              <a:tabLst>
                <a:tab pos="469265" algn="l"/>
              </a:tabLst>
            </a:pPr>
            <a:r>
              <a:rPr lang="en-US" sz="1600" dirty="0"/>
              <a:t>• </a:t>
            </a:r>
            <a:r>
              <a:rPr lang="en-US" dirty="0">
                <a:latin typeface="Times New Roman" panose="02020603050405020304" pitchFamily="18" charset="0"/>
                <a:cs typeface="Times New Roman" panose="02020603050405020304" pitchFamily="18" charset="0"/>
              </a:rPr>
              <a:t>MPU6050 collects acceleration and gyroscope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GPS collects location and speed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DHT22 records environmental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Microphone detects crash sound</a:t>
            </a:r>
          </a:p>
          <a:p>
            <a:pPr marL="125730" lvl="1">
              <a:lnSpc>
                <a:spcPct val="100000"/>
              </a:lnSpc>
              <a:spcBef>
                <a:spcPts val="1580"/>
              </a:spcBef>
              <a:tabLst>
                <a:tab pos="469265" algn="l"/>
              </a:tabLst>
            </a:pPr>
            <a:endParaRPr lang="en-US" sz="2000" b="1" spc="-10" dirty="0">
              <a:latin typeface="Times New Roman"/>
              <a:cs typeface="Times New Roman"/>
            </a:endParaRPr>
          </a:p>
          <a:p>
            <a:pPr marL="125730" lvl="1">
              <a:lnSpc>
                <a:spcPct val="100000"/>
              </a:lnSpc>
              <a:spcBef>
                <a:spcPts val="1580"/>
              </a:spcBef>
              <a:tabLst>
                <a:tab pos="469265" algn="l"/>
              </a:tabLst>
            </a:pPr>
            <a:endParaRPr lang="en-US" sz="2000" b="1" spc="-10" dirty="0">
              <a:latin typeface="Times New Roman"/>
              <a:cs typeface="Times New Roman"/>
            </a:endParaRPr>
          </a:p>
          <a:p>
            <a:pPr marL="125730" lvl="1">
              <a:lnSpc>
                <a:spcPct val="100000"/>
              </a:lnSpc>
              <a:spcBef>
                <a:spcPts val="1580"/>
              </a:spcBef>
              <a:tabLst>
                <a:tab pos="469265" algn="l"/>
              </a:tabLst>
            </a:pPr>
            <a:endParaRPr lang="en-US" sz="2000" dirty="0">
              <a:latin typeface="Times New Roman"/>
              <a:cs typeface="Times New Roman"/>
            </a:endParaRPr>
          </a:p>
          <a:p>
            <a:pPr marL="118110" lvl="1">
              <a:lnSpc>
                <a:spcPct val="150000"/>
              </a:lnSpc>
              <a:spcBef>
                <a:spcPts val="1575"/>
              </a:spcBef>
              <a:tabLst>
                <a:tab pos="469265" algn="l"/>
              </a:tabLst>
            </a:pP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710E560-7807-E8B5-9A9C-D3E475C5D44C}"/>
              </a:ext>
            </a:extLst>
          </p:cNvPr>
          <p:cNvSpPr txBox="1"/>
          <p:nvPr/>
        </p:nvSpPr>
        <p:spPr>
          <a:xfrm>
            <a:off x="560072" y="4072045"/>
            <a:ext cx="7754468" cy="646331"/>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 The collected </a:t>
            </a:r>
            <a:r>
              <a:rPr lang="en-US" b="1" dirty="0">
                <a:latin typeface="Times New Roman" panose="02020603050405020304" pitchFamily="18" charset="0"/>
                <a:cs typeface="Times New Roman" panose="02020603050405020304" pitchFamily="18" charset="0"/>
              </a:rPr>
              <a:t>sensor readings </a:t>
            </a:r>
            <a:r>
              <a:rPr lang="en-US" dirty="0">
                <a:latin typeface="Times New Roman" panose="02020603050405020304" pitchFamily="18" charset="0"/>
                <a:cs typeface="Times New Roman" panose="02020603050405020304" pitchFamily="18" charset="0"/>
              </a:rPr>
              <a:t>are converted into a structured numerical dataset </a:t>
            </a:r>
          </a:p>
          <a:p>
            <a:pPr>
              <a:buNone/>
            </a:pPr>
            <a:r>
              <a:rPr lang="en-US" dirty="0">
                <a:latin typeface="Times New Roman" panose="02020603050405020304" pitchFamily="18" charset="0"/>
                <a:cs typeface="Times New Roman" panose="02020603050405020304" pitchFamily="18" charset="0"/>
              </a:rPr>
              <a:t>• Noise and </a:t>
            </a:r>
            <a:r>
              <a:rPr lang="en-US" b="1" dirty="0">
                <a:latin typeface="Times New Roman" panose="02020603050405020304" pitchFamily="18" charset="0"/>
                <a:cs typeface="Times New Roman" panose="02020603050405020304" pitchFamily="18" charset="0"/>
              </a:rPr>
              <a:t>unwanted fluctuations </a:t>
            </a:r>
            <a:r>
              <a:rPr lang="en-US" dirty="0">
                <a:latin typeface="Times New Roman" panose="02020603050405020304" pitchFamily="18" charset="0"/>
                <a:cs typeface="Times New Roman" panose="02020603050405020304" pitchFamily="18" charset="0"/>
              </a:rPr>
              <a:t>in the sensor data are removed to improved</a:t>
            </a:r>
          </a:p>
        </p:txBody>
      </p:sp>
      <p:sp>
        <p:nvSpPr>
          <p:cNvPr id="9" name="TextBox 8">
            <a:extLst>
              <a:ext uri="{FF2B5EF4-FFF2-40B4-BE49-F238E27FC236}">
                <a16:creationId xmlns:a16="http://schemas.microsoft.com/office/drawing/2014/main" id="{782D76C3-F5B2-68F6-2727-55CBB46B495B}"/>
              </a:ext>
            </a:extLst>
          </p:cNvPr>
          <p:cNvSpPr txBox="1"/>
          <p:nvPr/>
        </p:nvSpPr>
        <p:spPr>
          <a:xfrm>
            <a:off x="570074" y="4630164"/>
            <a:ext cx="7862622"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Data normalization and scaling are applied to ensure consistent values for </a:t>
            </a:r>
            <a:r>
              <a:rPr lang="en-US" b="1" dirty="0">
                <a:latin typeface="Times New Roman" panose="02020603050405020304" pitchFamily="18" charset="0"/>
                <a:cs typeface="Times New Roman" panose="02020603050405020304" pitchFamily="18" charset="0"/>
              </a:rPr>
              <a:t>accurate</a:t>
            </a:r>
            <a:r>
              <a:rPr lang="en-US" dirty="0">
                <a:latin typeface="Times New Roman" panose="02020603050405020304" pitchFamily="18" charset="0"/>
                <a:cs typeface="Times New Roman" panose="02020603050405020304" pitchFamily="18" charset="0"/>
              </a:rPr>
              <a:t> model training.</a:t>
            </a:r>
          </a:p>
          <a:p>
            <a:r>
              <a:rPr lang="en-US" dirty="0">
                <a:latin typeface="Times New Roman" panose="02020603050405020304" pitchFamily="18" charset="0"/>
                <a:cs typeface="Times New Roman" panose="02020603050405020304" pitchFamily="18" charset="0"/>
              </a:rPr>
              <a:t>• The processed dataset is then used to train the machine learning model for </a:t>
            </a:r>
            <a:r>
              <a:rPr lang="en-US" b="1" dirty="0">
                <a:latin typeface="Times New Roman" panose="02020603050405020304" pitchFamily="18" charset="0"/>
                <a:cs typeface="Times New Roman" panose="02020603050405020304" pitchFamily="18" charset="0"/>
              </a:rPr>
              <a:t>accident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detection</a:t>
            </a:r>
            <a:r>
              <a:rPr lang="en-US" dirty="0">
                <a:latin typeface="Times New Roman" panose="02020603050405020304" pitchFamily="18" charset="0"/>
                <a:cs typeface="Times New Roman" panose="02020603050405020304" pitchFamily="18" charset="0"/>
              </a:rPr>
              <a:t> and prediction. </a:t>
            </a:r>
          </a:p>
        </p:txBody>
      </p:sp>
      <p:sp>
        <p:nvSpPr>
          <p:cNvPr id="8" name="object 5">
            <a:extLst>
              <a:ext uri="{FF2B5EF4-FFF2-40B4-BE49-F238E27FC236}">
                <a16:creationId xmlns:a16="http://schemas.microsoft.com/office/drawing/2014/main" id="{C3B3DC11-66D4-F9B9-2098-0F9F6D65FA36}"/>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6" name="TextBox 5">
            <a:extLst>
              <a:ext uri="{FF2B5EF4-FFF2-40B4-BE49-F238E27FC236}">
                <a16:creationId xmlns:a16="http://schemas.microsoft.com/office/drawing/2014/main" id="{03C26C36-6F3B-7D3B-457D-A299A5922D85}"/>
              </a:ext>
            </a:extLst>
          </p:cNvPr>
          <p:cNvSpPr txBox="1"/>
          <p:nvPr/>
        </p:nvSpPr>
        <p:spPr>
          <a:xfrm>
            <a:off x="550642" y="3503287"/>
            <a:ext cx="2452007" cy="400110"/>
          </a:xfrm>
          <a:prstGeom prst="rect">
            <a:avLst/>
          </a:prstGeom>
          <a:noFill/>
        </p:spPr>
        <p:txBody>
          <a:bodyPr wrap="square" rtlCol="0">
            <a:spAutoFit/>
          </a:bodyPr>
          <a:lstStyle/>
          <a:p>
            <a:pPr algn="l"/>
            <a:r>
              <a:rPr lang="" sz="2000" b="1" dirty="0">
                <a:latin typeface="Times New Roman" panose="02020603050405020304" pitchFamily="18" charset="0"/>
                <a:cs typeface="Times New Roman" panose="02020603050405020304" pitchFamily="18" charset="0"/>
              </a:rPr>
              <a:t>2. Data Processing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093B7682-7D39-D996-B9C8-852F5C788F1E}"/>
              </a:ext>
            </a:extLst>
          </p:cNvPr>
          <p:cNvSpPr txBox="1">
            <a:spLocks noGrp="1"/>
          </p:cNvSpPr>
          <p:nvPr>
            <p:ph type="title"/>
          </p:nvPr>
        </p:nvSpPr>
        <p:spPr>
          <a:prstGeom prst="rect">
            <a:avLst/>
          </a:prstGeom>
        </p:spPr>
        <p:txBody>
          <a:bodyPr vert="horz" wrap="square" lIns="0" tIns="74757" rIns="0" bIns="0" rtlCol="0">
            <a:spAutoFit/>
          </a:bodyPr>
          <a:lstStyle>
            <a:lvl1pPr>
              <a:defRPr sz="3250" b="0" i="0">
                <a:solidFill>
                  <a:schemeClr val="tx1"/>
                </a:solidFill>
                <a:latin typeface="Times New Roman"/>
                <a:ea typeface="+mj-ea"/>
                <a:cs typeface="Times New Roman"/>
              </a:defRPr>
            </a:lvl1pPr>
          </a:lstStyle>
          <a:p>
            <a:pPr marL="12700">
              <a:spcBef>
                <a:spcPts val="125"/>
              </a:spcBef>
            </a:pPr>
            <a:r>
              <a:rPr lang="en-US" spc="-10" dirty="0"/>
              <a:t>Methodology</a:t>
            </a:r>
          </a:p>
        </p:txBody>
      </p:sp>
      <p:sp>
        <p:nvSpPr>
          <p:cNvPr id="7" name="object 3">
            <a:extLst>
              <a:ext uri="{FF2B5EF4-FFF2-40B4-BE49-F238E27FC236}">
                <a16:creationId xmlns:a16="http://schemas.microsoft.com/office/drawing/2014/main" id="{06E02149-D97E-4F16-419D-B3A203B5C39F}"/>
              </a:ext>
            </a:extLst>
          </p:cNvPr>
          <p:cNvSpPr txBox="1"/>
          <p:nvPr/>
        </p:nvSpPr>
        <p:spPr>
          <a:xfrm>
            <a:off x="0" y="1338047"/>
            <a:ext cx="8421526" cy="2246769"/>
          </a:xfrm>
          <a:prstGeom prst="rect">
            <a:avLst/>
          </a:prstGeom>
        </p:spPr>
        <p:txBody>
          <a:bodyPr wrap="square" lIns="0" tIns="0" rIns="0" bIns="0">
            <a:spAutoFit/>
          </a:bodyPr>
          <a:lstStyle>
            <a:lvl1pPr marL="0">
              <a:defRPr sz="2000" b="1"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3. </a:t>
            </a:r>
            <a:r>
              <a:rPr sz="2000" b="1" dirty="0">
                <a:latin typeface="Times New Roman" panose="02020603050405020304" pitchFamily="18" charset="0"/>
                <a:cs typeface="Times New Roman" panose="02020603050405020304" pitchFamily="18" charset="0"/>
              </a:rPr>
              <a:t>Machine Learning Model </a:t>
            </a:r>
            <a:r>
              <a:rPr sz="2000" b="1" dirty="0" err="1">
                <a:latin typeface="Times New Roman" panose="02020603050405020304" pitchFamily="18" charset="0"/>
                <a:cs typeface="Times New Roman" panose="02020603050405020304" pitchFamily="18" charset="0"/>
              </a:rPr>
              <a:t>Trainin</a:t>
            </a:r>
            <a:r>
              <a:rPr lang="en-IN" sz="2000" b="1" dirty="0">
                <a:latin typeface="Times New Roman" panose="02020603050405020304" pitchFamily="18" charset="0"/>
                <a:cs typeface="Times New Roman" panose="02020603050405020304" pitchFamily="18" charset="0"/>
              </a:rPr>
              <a:t>g</a:t>
            </a:r>
          </a:p>
          <a:p>
            <a:pPr lvl="1"/>
            <a:endParaRPr lang="en-IN" b="1"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 extracted features are used to train machine learning algorithms such as</a:t>
            </a:r>
            <a:endParaRPr lang="en-IN"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dirty="0">
                <a:latin typeface="Times New Roman" panose="02020603050405020304" pitchFamily="18" charset="0"/>
                <a:cs typeface="Times New Roman" panose="02020603050405020304" pitchFamily="18" charset="0"/>
              </a:rPr>
              <a:t>Random Forest</a:t>
            </a:r>
            <a:endParaRPr lang="en-IN"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dirty="0">
                <a:latin typeface="Times New Roman" panose="02020603050405020304" pitchFamily="18" charset="0"/>
                <a:cs typeface="Times New Roman" panose="02020603050405020304" pitchFamily="18" charset="0"/>
              </a:rPr>
              <a:t>Decision Tree</a:t>
            </a:r>
            <a:endParaRPr lang="en-IN" dirty="0">
              <a:latin typeface="Times New Roman" panose="02020603050405020304" pitchFamily="18" charset="0"/>
              <a:cs typeface="Times New Roman" panose="02020603050405020304" pitchFamily="18" charset="0"/>
            </a:endParaRPr>
          </a:p>
          <a:p>
            <a:pPr lvl="1"/>
            <a:endParaRPr dirty="0">
              <a:latin typeface="Times New Roman" panose="02020603050405020304" pitchFamily="18" charset="0"/>
              <a:cs typeface="Times New Roman" panose="02020603050405020304" pitchFamily="18" charset="0"/>
            </a:endParaRPr>
          </a:p>
        </p:txBody>
      </p:sp>
      <p:sp>
        <p:nvSpPr>
          <p:cNvPr id="9" name="object 3">
            <a:extLst>
              <a:ext uri="{FF2B5EF4-FFF2-40B4-BE49-F238E27FC236}">
                <a16:creationId xmlns:a16="http://schemas.microsoft.com/office/drawing/2014/main" id="{DC16CDA8-9E61-D16C-F476-6ECCB1BA4EBA}"/>
              </a:ext>
            </a:extLst>
          </p:cNvPr>
          <p:cNvSpPr txBox="1"/>
          <p:nvPr/>
        </p:nvSpPr>
        <p:spPr>
          <a:xfrm>
            <a:off x="570074" y="3584816"/>
            <a:ext cx="7888126" cy="2462213"/>
          </a:xfrm>
          <a:prstGeom prst="rect">
            <a:avLst/>
          </a:prstGeom>
        </p:spPr>
        <p:txBody>
          <a:bodyPr wrap="square" lIns="0" tIns="0" rIns="0" bIns="0">
            <a:spAutoFit/>
          </a:bodyPr>
          <a:lstStyle>
            <a:defPPr>
              <a:defRPr kern="0"/>
            </a:defPPr>
            <a:lvl1pPr marL="0">
              <a:defRPr sz="2000" b="1" i="0">
                <a:solidFill>
                  <a:schemeClr val="tx1"/>
                </a:solidFill>
                <a:latin typeface="Times New Roman"/>
                <a:ea typeface="+mn-ea"/>
                <a:cs typeface="Times New Roman"/>
              </a:defRPr>
            </a:lvl1pPr>
            <a:lvl2pPr marL="457200" lvl="1">
              <a:defRPr>
                <a:latin typeface="Times New Roman" panose="02020603050405020304" pitchFamily="18" charset="0"/>
                <a:ea typeface="+mn-ea"/>
                <a:cs typeface="Times New Roman" panose="02020603050405020304" pitchFamily="18" charset="0"/>
              </a:defRPr>
            </a:lvl2pPr>
            <a:lvl3pPr marL="1200150" lvl="2" indent="-285750">
              <a:buFont typeface="Arial" panose="020B0604020202020204" pitchFamily="34" charset="0"/>
              <a:buChar char="•"/>
              <a:defRPr>
                <a:latin typeface="Times New Roman" panose="02020603050405020304" pitchFamily="18" charset="0"/>
                <a:ea typeface="+mn-ea"/>
                <a:cs typeface="Times New Roman" panose="02020603050405020304" pitchFamily="18" charset="0"/>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dirty="0"/>
              <a:t>4. </a:t>
            </a:r>
            <a:r>
              <a:rPr dirty="0"/>
              <a:t>Prediction and Evaluation</a:t>
            </a:r>
            <a:endParaRPr lang="" dirty="0"/>
          </a:p>
          <a:p>
            <a:endParaRPr dirty="0"/>
          </a:p>
          <a:p>
            <a:r>
              <a:rPr lang="en-US" b="0" dirty="0"/>
              <a:t>The performance of the model is evaluated using the following metrics:</a:t>
            </a:r>
          </a:p>
          <a:p>
            <a:endParaRPr lang="en-US" dirty="0"/>
          </a:p>
          <a:p>
            <a:r>
              <a:rPr lang="en-US" b="0" dirty="0"/>
              <a:t>• Accuracy – Measures the overall correctness of accident predictions.</a:t>
            </a:r>
            <a:br>
              <a:rPr lang="en-US" b="0" dirty="0"/>
            </a:br>
            <a:r>
              <a:rPr lang="en-US" b="0" dirty="0"/>
              <a:t>• Precision – Indicates how many predicted accidents are actually true accidents.</a:t>
            </a:r>
            <a:br>
              <a:rPr lang="en-US" b="0" dirty="0"/>
            </a:br>
            <a:r>
              <a:rPr lang="en-US" b="0" dirty="0"/>
              <a:t>• Recall – Measures how effectively the model detects actual accident events.</a:t>
            </a:r>
          </a:p>
        </p:txBody>
      </p:sp>
      <p:sp>
        <p:nvSpPr>
          <p:cNvPr id="3" name="object 5">
            <a:extLst>
              <a:ext uri="{FF2B5EF4-FFF2-40B4-BE49-F238E27FC236}">
                <a16:creationId xmlns:a16="http://schemas.microsoft.com/office/drawing/2014/main" id="{4622028D-EF1C-793C-5BD4-23EDF2DE3F23}"/>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spTree>
    <p:extLst>
      <p:ext uri="{BB962C8B-B14F-4D97-AF65-F5344CB8AC3E}">
        <p14:creationId xmlns:p14="http://schemas.microsoft.com/office/powerpoint/2010/main" val="1706970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BEF1E-B702-8E44-5F69-5D18954D3C1F}"/>
              </a:ext>
            </a:extLst>
          </p:cNvPr>
          <p:cNvSpPr>
            <a:spLocks noGrp="1"/>
          </p:cNvSpPr>
          <p:nvPr>
            <p:ph type="title"/>
          </p:nvPr>
        </p:nvSpPr>
        <p:spPr>
          <a:xfrm>
            <a:off x="570074" y="236081"/>
            <a:ext cx="8003851" cy="500137"/>
          </a:xfrm>
        </p:spPr>
        <p:txBody>
          <a:bodyPr/>
          <a:lstStyle/>
          <a:p>
            <a:r>
              <a:rPr lang="" dirty="0"/>
              <a:t>Methodology </a:t>
            </a:r>
          </a:p>
        </p:txBody>
      </p:sp>
      <p:sp>
        <p:nvSpPr>
          <p:cNvPr id="3" name="Text Placeholder 2">
            <a:extLst>
              <a:ext uri="{FF2B5EF4-FFF2-40B4-BE49-F238E27FC236}">
                <a16:creationId xmlns:a16="http://schemas.microsoft.com/office/drawing/2014/main" id="{7CE8B6CA-1ACE-B494-4D1A-6B7963480674}"/>
              </a:ext>
            </a:extLst>
          </p:cNvPr>
          <p:cNvSpPr>
            <a:spLocks noGrp="1"/>
          </p:cNvSpPr>
          <p:nvPr>
            <p:ph type="body" idx="1"/>
          </p:nvPr>
        </p:nvSpPr>
        <p:spPr>
          <a:xfrm>
            <a:off x="570073" y="1099306"/>
            <a:ext cx="7713345" cy="1446550"/>
          </a:xfrm>
        </p:spPr>
        <p:txBody>
          <a:bodyPr/>
          <a:lstStyle/>
          <a:p>
            <a:r>
              <a:rPr lang="" sz="2000" b="1" dirty="0"/>
              <a:t>5.</a:t>
            </a:r>
            <a:r>
              <a:rPr lang="en-US" sz="2000" b="1" dirty="0"/>
              <a:t>Accident Detection Logic</a:t>
            </a:r>
          </a:p>
          <a:p>
            <a:endParaRPr lang="en-US" sz="2000" b="1" dirty="0"/>
          </a:p>
          <a:p>
            <a:pPr marL="285750" indent="-285750">
              <a:buFont typeface="Arial" panose="020B0604020202020204" pitchFamily="34" charset="0"/>
              <a:buChar char="•"/>
            </a:pPr>
            <a:r>
              <a:rPr lang="en-US" dirty="0"/>
              <a:t>System continuously monitors sensor values.</a:t>
            </a:r>
          </a:p>
          <a:p>
            <a:pPr marL="285750" indent="-285750">
              <a:buFont typeface="Arial" panose="020B0604020202020204" pitchFamily="34" charset="0"/>
              <a:buChar char="•"/>
            </a:pPr>
            <a:r>
              <a:rPr lang="en-US" dirty="0"/>
              <a:t>If thresholds are exceeded (high impact, sudden stop, loud sound),the system classifies it as a possible accident.</a:t>
            </a:r>
            <a:endParaRPr lang="" dirty="0"/>
          </a:p>
        </p:txBody>
      </p:sp>
      <p:sp>
        <p:nvSpPr>
          <p:cNvPr id="5" name="TextBox 4">
            <a:extLst>
              <a:ext uri="{FF2B5EF4-FFF2-40B4-BE49-F238E27FC236}">
                <a16:creationId xmlns:a16="http://schemas.microsoft.com/office/drawing/2014/main" id="{82F2164B-60AA-F8A4-361D-158AD7B8B552}"/>
              </a:ext>
            </a:extLst>
          </p:cNvPr>
          <p:cNvSpPr txBox="1"/>
          <p:nvPr/>
        </p:nvSpPr>
        <p:spPr>
          <a:xfrm>
            <a:off x="570073" y="2651933"/>
            <a:ext cx="7417318" cy="1846659"/>
          </a:xfrm>
          <a:prstGeom prst="rect">
            <a:avLst/>
          </a:prstGeom>
        </p:spPr>
        <p:txBody>
          <a:bodyPr wrap="square" lIns="0" tIns="0" rIns="0" bIns="0">
            <a:spAutoFit/>
          </a:bodyPr>
          <a:lstStyle>
            <a:lvl1pPr marL="0">
              <a:defRPr sz="2000" b="1"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 dirty="0"/>
              <a:t>6.</a:t>
            </a:r>
            <a:r>
              <a:rPr lang="en-US" dirty="0"/>
              <a:t>Alert Generation</a:t>
            </a:r>
          </a:p>
          <a:p>
            <a:endParaRPr lang="en-US" dirty="0"/>
          </a:p>
          <a:p>
            <a:r>
              <a:rPr lang="en-US" b="0" dirty="0"/>
              <a:t>After detection, the system automatically:</a:t>
            </a:r>
          </a:p>
          <a:p>
            <a:endParaRPr lang="en-US" b="0" dirty="0"/>
          </a:p>
          <a:p>
            <a:pPr marL="342900" indent="-342900">
              <a:buFont typeface="Arial" panose="020B0604020202020204" pitchFamily="34" charset="0"/>
              <a:buChar char="•"/>
            </a:pPr>
            <a:r>
              <a:rPr lang="en-US" b="0" dirty="0"/>
              <a:t>Sends GPS location</a:t>
            </a:r>
          </a:p>
          <a:p>
            <a:pPr marL="342900" indent="-342900">
              <a:buFont typeface="Arial" panose="020B0604020202020204" pitchFamily="34" charset="0"/>
              <a:buChar char="•"/>
            </a:pPr>
            <a:r>
              <a:rPr lang="en-US" b="0" dirty="0"/>
              <a:t>Generates emergency alert message.</a:t>
            </a:r>
            <a:endParaRPr lang="" b="0" dirty="0"/>
          </a:p>
        </p:txBody>
      </p:sp>
      <p:sp>
        <p:nvSpPr>
          <p:cNvPr id="7" name="TextBox 6">
            <a:extLst>
              <a:ext uri="{FF2B5EF4-FFF2-40B4-BE49-F238E27FC236}">
                <a16:creationId xmlns:a16="http://schemas.microsoft.com/office/drawing/2014/main" id="{EB0D08E3-E34A-170F-7D43-EF3473B52D79}"/>
              </a:ext>
            </a:extLst>
          </p:cNvPr>
          <p:cNvSpPr txBox="1"/>
          <p:nvPr/>
        </p:nvSpPr>
        <p:spPr>
          <a:xfrm>
            <a:off x="570073" y="4604669"/>
            <a:ext cx="8003851" cy="1538884"/>
          </a:xfrm>
          <a:prstGeom prst="rect">
            <a:avLst/>
          </a:prstGeom>
        </p:spPr>
        <p:txBody>
          <a:bodyPr wrap="square" lIns="0" tIns="0" rIns="0" bIns="0">
            <a:spAutoFit/>
          </a:bodyPr>
          <a:lstStyle>
            <a:defPPr>
              <a:defRPr kern="0"/>
            </a:defPPr>
            <a:lvl1pPr marL="0">
              <a:defRPr sz="2000" b="1"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 dirty="0"/>
              <a:t>7.</a:t>
            </a:r>
            <a:r>
              <a:rPr lang="en-US" dirty="0"/>
              <a:t>Notification System</a:t>
            </a:r>
            <a:r>
              <a:rPr lang="" dirty="0"/>
              <a:t> </a:t>
            </a:r>
            <a:r>
              <a:rPr lang="en-US" dirty="0"/>
              <a:t>Alert is sent to</a:t>
            </a:r>
          </a:p>
          <a:p>
            <a:endParaRPr lang="en-US" dirty="0"/>
          </a:p>
          <a:p>
            <a:pPr marL="342900" indent="-342900">
              <a:buFont typeface="Arial" panose="020B0604020202020204" pitchFamily="34" charset="0"/>
              <a:buChar char="•"/>
            </a:pPr>
            <a:r>
              <a:rPr lang="en-US" b="0" dirty="0"/>
              <a:t>Emergency contacts / ambulance</a:t>
            </a:r>
          </a:p>
          <a:p>
            <a:pPr marL="342900" indent="-342900">
              <a:buFont typeface="Arial" panose="020B0604020202020204" pitchFamily="34" charset="0"/>
              <a:buChar char="•"/>
            </a:pPr>
            <a:r>
              <a:rPr lang="en-US" b="0" dirty="0"/>
              <a:t>Mobile dashboard / web dashboard</a:t>
            </a:r>
          </a:p>
          <a:p>
            <a:pPr marL="342900" indent="-342900">
              <a:buFont typeface="Arial" panose="020B0604020202020204" pitchFamily="34" charset="0"/>
              <a:buChar char="•"/>
            </a:pPr>
            <a:r>
              <a:rPr lang="en-US" b="0" dirty="0"/>
              <a:t>Authorities if required.</a:t>
            </a:r>
            <a:endParaRPr lang="" b="0" dirty="0"/>
          </a:p>
        </p:txBody>
      </p:sp>
      <p:sp>
        <p:nvSpPr>
          <p:cNvPr id="6" name="object 5">
            <a:extLst>
              <a:ext uri="{FF2B5EF4-FFF2-40B4-BE49-F238E27FC236}">
                <a16:creationId xmlns:a16="http://schemas.microsoft.com/office/drawing/2014/main" id="{BFB9B7E5-68AE-3F49-5EC7-A819742EB57D}"/>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Tree>
    <p:extLst>
      <p:ext uri="{BB962C8B-B14F-4D97-AF65-F5344CB8AC3E}">
        <p14:creationId xmlns:p14="http://schemas.microsoft.com/office/powerpoint/2010/main" val="332074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0074" y="236081"/>
            <a:ext cx="8003851" cy="575013"/>
          </a:xfrm>
          <a:prstGeom prst="rect">
            <a:avLst/>
          </a:prstGeom>
        </p:spPr>
        <p:txBody>
          <a:bodyPr vert="horz" wrap="square" lIns="0" tIns="74152" rIns="0" bIns="0" rtlCol="0">
            <a:spAutoFit/>
          </a:bodyPr>
          <a:lstStyle/>
          <a:p>
            <a:pPr marL="12700">
              <a:lnSpc>
                <a:spcPct val="100000"/>
              </a:lnSpc>
              <a:spcBef>
                <a:spcPts val="110"/>
              </a:spcBef>
            </a:pPr>
            <a:r>
              <a:rPr lang="en-IN" dirty="0"/>
              <a:t>Novelty of the Project</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13</a:t>
            </a:fld>
            <a:endParaRPr spc="-25" dirty="0"/>
          </a:p>
        </p:txBody>
      </p:sp>
      <p:sp>
        <p:nvSpPr>
          <p:cNvPr id="3" name="object 3"/>
          <p:cNvSpPr txBox="1"/>
          <p:nvPr/>
        </p:nvSpPr>
        <p:spPr>
          <a:xfrm>
            <a:off x="543035" y="1335042"/>
            <a:ext cx="7636509" cy="4570290"/>
          </a:xfrm>
          <a:prstGeom prst="rect">
            <a:avLst/>
          </a:prstGeom>
        </p:spPr>
        <p:txBody>
          <a:bodyPr vert="horz" wrap="square" lIns="0" tIns="12700" rIns="0" bIns="0" rtlCol="0">
            <a:sp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Integration of Multiple Sensors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combines motion, environmental, and sound sensors to monitor vehicle conditions more accurately.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Machine Learning Based Accident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Unlike traditional threshold systems, a machine learning model analyzes sensor patterns to detect accidents more intelligently.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Real-Time Monitoring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continuously collects and processes sensor data for instant crash detection.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Automatic GPS-Based Location Sharing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When an accident occurs, the system automatically sends the exact location for faster emergency response.</a:t>
            </a:r>
          </a:p>
          <a:p>
            <a:pPr marL="12065" marR="5080">
              <a:lnSpc>
                <a:spcPct val="108800"/>
              </a:lnSpc>
              <a:spcBef>
                <a:spcPts val="100"/>
              </a:spcBef>
              <a:buSzPct val="144000"/>
              <a:tabLst>
                <a:tab pos="401320" algn="l"/>
              </a:tabLst>
            </a:pPr>
            <a:endParaRPr sz="2500" dirty="0">
              <a:latin typeface="Times New Roman"/>
              <a:cs typeface="Times New Roman"/>
            </a:endParaRPr>
          </a:p>
        </p:txBody>
      </p:sp>
      <p:sp>
        <p:nvSpPr>
          <p:cNvPr id="7" name="object 5">
            <a:extLst>
              <a:ext uri="{FF2B5EF4-FFF2-40B4-BE49-F238E27FC236}">
                <a16:creationId xmlns:a16="http://schemas.microsoft.com/office/drawing/2014/main" id="{28C61227-EB6C-DA23-7A8D-ED8C6774BA05}"/>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9138C-CAD0-08C8-7179-54505F0AEF15}"/>
              </a:ext>
            </a:extLst>
          </p:cNvPr>
          <p:cNvSpPr>
            <a:spLocks noGrp="1"/>
          </p:cNvSpPr>
          <p:nvPr>
            <p:ph type="title"/>
          </p:nvPr>
        </p:nvSpPr>
        <p:spPr>
          <a:xfrm>
            <a:off x="570074" y="236081"/>
            <a:ext cx="8003851" cy="500137"/>
          </a:xfrm>
        </p:spPr>
        <p:txBody>
          <a:bodyPr/>
          <a:lstStyle/>
          <a:p>
            <a:r>
              <a:rPr lang="en-IN" dirty="0"/>
              <a:t>Circuit Implementation</a:t>
            </a:r>
          </a:p>
        </p:txBody>
      </p:sp>
      <p:pic>
        <p:nvPicPr>
          <p:cNvPr id="10" name="Picture 9">
            <a:extLst>
              <a:ext uri="{FF2B5EF4-FFF2-40B4-BE49-F238E27FC236}">
                <a16:creationId xmlns:a16="http://schemas.microsoft.com/office/drawing/2014/main" id="{AAB13642-BD38-6B4B-0E9F-387D081E75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1999" y="1676400"/>
            <a:ext cx="2971800" cy="2971800"/>
          </a:xfrm>
          <a:prstGeom prst="rect">
            <a:avLst/>
          </a:prstGeom>
        </p:spPr>
      </p:pic>
      <p:pic>
        <p:nvPicPr>
          <p:cNvPr id="14" name="Picture 13">
            <a:extLst>
              <a:ext uri="{FF2B5EF4-FFF2-40B4-BE49-F238E27FC236}">
                <a16:creationId xmlns:a16="http://schemas.microsoft.com/office/drawing/2014/main" id="{5CA0366F-CE7A-1454-58D0-9ED3A12739BE}"/>
              </a:ext>
            </a:extLst>
          </p:cNvPr>
          <p:cNvPicPr>
            <a:picLocks noChangeAspect="1"/>
          </p:cNvPicPr>
          <p:nvPr/>
        </p:nvPicPr>
        <p:blipFill>
          <a:blip r:embed="rId3" cstate="print">
            <a:extLst>
              <a:ext uri="{28A0092B-C50C-407E-A947-70E740481C1C}">
                <a14:useLocalDpi xmlns:a14="http://schemas.microsoft.com/office/drawing/2010/main" val="0"/>
              </a:ext>
            </a:extLst>
          </a:blip>
          <a:srcRect l="5556" t="19563" r="15925" b="12009"/>
          <a:stretch>
            <a:fillRect/>
          </a:stretch>
        </p:blipFill>
        <p:spPr>
          <a:xfrm>
            <a:off x="990600" y="1676400"/>
            <a:ext cx="2988223" cy="2971800"/>
          </a:xfrm>
          <a:prstGeom prst="rect">
            <a:avLst/>
          </a:prstGeom>
        </p:spPr>
      </p:pic>
      <p:sp>
        <p:nvSpPr>
          <p:cNvPr id="15" name="TextBox 14">
            <a:extLst>
              <a:ext uri="{FF2B5EF4-FFF2-40B4-BE49-F238E27FC236}">
                <a16:creationId xmlns:a16="http://schemas.microsoft.com/office/drawing/2014/main" id="{1CE940B8-E414-2BA1-A4D8-52B975B9FEB2}"/>
              </a:ext>
            </a:extLst>
          </p:cNvPr>
          <p:cNvSpPr txBox="1"/>
          <p:nvPr/>
        </p:nvSpPr>
        <p:spPr>
          <a:xfrm>
            <a:off x="3429000" y="4950767"/>
            <a:ext cx="1866902" cy="461665"/>
          </a:xfrm>
          <a:prstGeom prst="rect">
            <a:avLst/>
          </a:prstGeom>
          <a:noFill/>
        </p:spPr>
        <p:txBody>
          <a:bodyPr wrap="square" rtlCol="0">
            <a:spAutoFit/>
          </a:bodyPr>
          <a:lstStyle/>
          <a:p>
            <a:pPr algn="l"/>
            <a:r>
              <a:rPr lang="" sz="1200" i="1" dirty="0">
                <a:latin typeface="Times New Roman" panose="02020603050405020304" pitchFamily="18" charset="0"/>
                <a:cs typeface="Times New Roman" panose="02020603050405020304" pitchFamily="18" charset="0"/>
              </a:rPr>
              <a:t>Fig 5.Proposed System</a:t>
            </a:r>
          </a:p>
          <a:p>
            <a:pPr algn="l"/>
            <a:endParaRPr lang=""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57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EF1D-819D-914C-649D-2767DD8053CF}"/>
              </a:ext>
            </a:extLst>
          </p:cNvPr>
          <p:cNvSpPr>
            <a:spLocks noGrp="1"/>
          </p:cNvSpPr>
          <p:nvPr>
            <p:ph type="title"/>
          </p:nvPr>
        </p:nvSpPr>
        <p:spPr>
          <a:xfrm>
            <a:off x="570074" y="236081"/>
            <a:ext cx="8003851" cy="500137"/>
          </a:xfrm>
        </p:spPr>
        <p:txBody>
          <a:bodyPr/>
          <a:lstStyle/>
          <a:p>
            <a:r>
              <a:rPr lang="en-IN" dirty="0"/>
              <a:t>Result</a:t>
            </a:r>
          </a:p>
        </p:txBody>
      </p:sp>
      <p:pic>
        <p:nvPicPr>
          <p:cNvPr id="17" name="Picture 16">
            <a:extLst>
              <a:ext uri="{FF2B5EF4-FFF2-40B4-BE49-F238E27FC236}">
                <a16:creationId xmlns:a16="http://schemas.microsoft.com/office/drawing/2014/main" id="{9AD6E21D-BF78-AE02-B0F0-A3AA75F790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799" y="1342799"/>
            <a:ext cx="6478973" cy="2279072"/>
          </a:xfrm>
          <a:prstGeom prst="rect">
            <a:avLst/>
          </a:prstGeom>
        </p:spPr>
      </p:pic>
      <p:sp>
        <p:nvSpPr>
          <p:cNvPr id="19" name="TextBox 18">
            <a:extLst>
              <a:ext uri="{FF2B5EF4-FFF2-40B4-BE49-F238E27FC236}">
                <a16:creationId xmlns:a16="http://schemas.microsoft.com/office/drawing/2014/main" id="{48476ADF-8A2D-8580-66DC-CB9B4D5D3156}"/>
              </a:ext>
            </a:extLst>
          </p:cNvPr>
          <p:cNvSpPr txBox="1"/>
          <p:nvPr/>
        </p:nvSpPr>
        <p:spPr>
          <a:xfrm>
            <a:off x="597783" y="1033048"/>
            <a:ext cx="4572000" cy="338554"/>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1.Normal Driving </a:t>
            </a:r>
          </a:p>
        </p:txBody>
      </p:sp>
      <p:pic>
        <p:nvPicPr>
          <p:cNvPr id="23" name="Picture 22">
            <a:extLst>
              <a:ext uri="{FF2B5EF4-FFF2-40B4-BE49-F238E27FC236}">
                <a16:creationId xmlns:a16="http://schemas.microsoft.com/office/drawing/2014/main" id="{A0131575-3F4F-9935-11E1-FE5C71093B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3962400"/>
            <a:ext cx="6478973" cy="2279072"/>
          </a:xfrm>
          <a:prstGeom prst="rect">
            <a:avLst/>
          </a:prstGeom>
        </p:spPr>
      </p:pic>
      <p:sp>
        <p:nvSpPr>
          <p:cNvPr id="28" name="TextBox 27">
            <a:extLst>
              <a:ext uri="{FF2B5EF4-FFF2-40B4-BE49-F238E27FC236}">
                <a16:creationId xmlns:a16="http://schemas.microsoft.com/office/drawing/2014/main" id="{5EFEDD53-979D-D861-3553-CEF98A26F574}"/>
              </a:ext>
            </a:extLst>
          </p:cNvPr>
          <p:cNvSpPr txBox="1"/>
          <p:nvPr/>
        </p:nvSpPr>
        <p:spPr>
          <a:xfrm>
            <a:off x="611638" y="3623846"/>
            <a:ext cx="4572000" cy="338554"/>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2.Hard Impact</a:t>
            </a:r>
          </a:p>
        </p:txBody>
      </p:sp>
      <p:sp>
        <p:nvSpPr>
          <p:cNvPr id="29" name="object 5">
            <a:extLst>
              <a:ext uri="{FF2B5EF4-FFF2-40B4-BE49-F238E27FC236}">
                <a16:creationId xmlns:a16="http://schemas.microsoft.com/office/drawing/2014/main" id="{6F22786B-D763-7C23-90F7-E876ACD0D805}"/>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31" name="TextBox 30">
            <a:extLst>
              <a:ext uri="{FF2B5EF4-FFF2-40B4-BE49-F238E27FC236}">
                <a16:creationId xmlns:a16="http://schemas.microsoft.com/office/drawing/2014/main" id="{BB84D855-7A49-63FA-EC58-6B602162D883}"/>
              </a:ext>
            </a:extLst>
          </p:cNvPr>
          <p:cNvSpPr txBox="1"/>
          <p:nvPr/>
        </p:nvSpPr>
        <p:spPr>
          <a:xfrm>
            <a:off x="8686800" y="6401162"/>
            <a:ext cx="4572000" cy="369332"/>
          </a:xfrm>
          <a:prstGeom prst="rect">
            <a:avLst/>
          </a:prstGeom>
          <a:noFill/>
        </p:spPr>
        <p:txBody>
          <a:bodyPr wrap="square">
            <a:spAutoFit/>
          </a:bodyPr>
          <a:lstStyle/>
          <a:p>
            <a:fld id="{81D60167-4931-47E6-BA6A-407CBD079E47}" type="slidenum">
              <a:rPr lang="en-IN" spc="-25" smtClean="0"/>
              <a:pPr/>
              <a:t>15</a:t>
            </a:fld>
            <a:endParaRPr lang="en-IN" dirty="0"/>
          </a:p>
        </p:txBody>
      </p:sp>
    </p:spTree>
    <p:extLst>
      <p:ext uri="{BB962C8B-B14F-4D97-AF65-F5344CB8AC3E}">
        <p14:creationId xmlns:p14="http://schemas.microsoft.com/office/powerpoint/2010/main" val="37808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0AABC-83E4-A5C8-387C-FD3C930430ED}"/>
              </a:ext>
            </a:extLst>
          </p:cNvPr>
          <p:cNvSpPr>
            <a:spLocks noGrp="1"/>
          </p:cNvSpPr>
          <p:nvPr>
            <p:ph type="title"/>
          </p:nvPr>
        </p:nvSpPr>
        <p:spPr>
          <a:xfrm>
            <a:off x="570074" y="236081"/>
            <a:ext cx="8003851" cy="500137"/>
          </a:xfrm>
        </p:spPr>
        <p:txBody>
          <a:bodyPr/>
          <a:lstStyle/>
          <a:p>
            <a:r>
              <a:rPr lang="en-IN" dirty="0"/>
              <a:t>Result</a:t>
            </a:r>
          </a:p>
        </p:txBody>
      </p:sp>
      <p:pic>
        <p:nvPicPr>
          <p:cNvPr id="25" name="Picture 24">
            <a:extLst>
              <a:ext uri="{FF2B5EF4-FFF2-40B4-BE49-F238E27FC236}">
                <a16:creationId xmlns:a16="http://schemas.microsoft.com/office/drawing/2014/main" id="{492B26A7-1B0D-8C7C-D910-2BA8F60EF6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0856" y="1334733"/>
            <a:ext cx="6762444" cy="2244297"/>
          </a:xfrm>
          <a:prstGeom prst="rect">
            <a:avLst/>
          </a:prstGeom>
        </p:spPr>
      </p:pic>
      <p:sp>
        <p:nvSpPr>
          <p:cNvPr id="5" name="TextBox 4">
            <a:extLst>
              <a:ext uri="{FF2B5EF4-FFF2-40B4-BE49-F238E27FC236}">
                <a16:creationId xmlns:a16="http://schemas.microsoft.com/office/drawing/2014/main" id="{78CD06E0-B57A-61CD-CFDC-E39CC0489876}"/>
              </a:ext>
            </a:extLst>
          </p:cNvPr>
          <p:cNvSpPr txBox="1"/>
          <p:nvPr/>
        </p:nvSpPr>
        <p:spPr>
          <a:xfrm>
            <a:off x="542365" y="965401"/>
            <a:ext cx="4572000" cy="369332"/>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3.Crash Sound</a:t>
            </a:r>
            <a:r>
              <a:rPr lang="en-US" sz="1800" b="1"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408D93D3-A4F3-8447-F890-ECD0092183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20" y="3948362"/>
            <a:ext cx="6758980" cy="2275085"/>
          </a:xfrm>
          <a:prstGeom prst="rect">
            <a:avLst/>
          </a:prstGeom>
        </p:spPr>
      </p:pic>
      <p:sp>
        <p:nvSpPr>
          <p:cNvPr id="8" name="TextBox 7">
            <a:extLst>
              <a:ext uri="{FF2B5EF4-FFF2-40B4-BE49-F238E27FC236}">
                <a16:creationId xmlns:a16="http://schemas.microsoft.com/office/drawing/2014/main" id="{CFAA309C-F3EB-31DD-96B7-E94D53958525}"/>
              </a:ext>
            </a:extLst>
          </p:cNvPr>
          <p:cNvSpPr txBox="1"/>
          <p:nvPr/>
        </p:nvSpPr>
        <p:spPr>
          <a:xfrm>
            <a:off x="590856" y="3609808"/>
            <a:ext cx="4572000" cy="338554"/>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4.Accident Detected </a:t>
            </a:r>
          </a:p>
        </p:txBody>
      </p:sp>
      <p:sp>
        <p:nvSpPr>
          <p:cNvPr id="9" name="object 5">
            <a:extLst>
              <a:ext uri="{FF2B5EF4-FFF2-40B4-BE49-F238E27FC236}">
                <a16:creationId xmlns:a16="http://schemas.microsoft.com/office/drawing/2014/main" id="{F9BF3AB7-FC15-9264-623D-53B8B46F69D8}"/>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extLst>
      <p:ext uri="{BB962C8B-B14F-4D97-AF65-F5344CB8AC3E}">
        <p14:creationId xmlns:p14="http://schemas.microsoft.com/office/powerpoint/2010/main" val="2807291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0074" y="236081"/>
            <a:ext cx="8003851" cy="575549"/>
          </a:xfrm>
          <a:prstGeom prst="rect">
            <a:avLst/>
          </a:prstGeom>
        </p:spPr>
        <p:txBody>
          <a:bodyPr vert="horz" wrap="square" lIns="0" tIns="74683" rIns="0" bIns="0" rtlCol="0">
            <a:spAutoFit/>
          </a:bodyPr>
          <a:lstStyle/>
          <a:p>
            <a:pPr marL="12700">
              <a:lnSpc>
                <a:spcPct val="100000"/>
              </a:lnSpc>
              <a:spcBef>
                <a:spcPts val="125"/>
              </a:spcBef>
            </a:pPr>
            <a:r>
              <a:rPr lang="en-IN" dirty="0"/>
              <a:t>Future Scope</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17</a:t>
            </a:fld>
            <a:endParaRPr spc="-25" dirty="0"/>
          </a:p>
        </p:txBody>
      </p:sp>
      <p:sp>
        <p:nvSpPr>
          <p:cNvPr id="3" name="object 3"/>
          <p:cNvSpPr txBox="1"/>
          <p:nvPr/>
        </p:nvSpPr>
        <p:spPr>
          <a:xfrm>
            <a:off x="599571" y="1397778"/>
            <a:ext cx="7491730" cy="5090496"/>
          </a:xfrm>
          <a:prstGeom prst="rect">
            <a:avLst/>
          </a:prstGeom>
        </p:spPr>
        <p:txBody>
          <a:bodyPr vert="horz" wrap="square" lIns="0" tIns="12700" rIns="0" bIns="0" rtlCol="0">
            <a:sp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Integration with Smart City Infrastructure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can be connected with traffic management and emergency services to provide faster accident response.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Mobile Application for Real-Time Monitoring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dedicated mobile app can allow users, family members, and authorities to track vehicle status and receive instant alerts.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Advanced AI Models for Better 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Future versions can use deep learning models to improve accident prediction accuracy and analyze driving patterns.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Cloud-Based Data Storage and Analytics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Accident data can be stored in the cloud for long-term analysis, insurance verification, and safety research.</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12700" marR="5080">
              <a:lnSpc>
                <a:spcPct val="107800"/>
              </a:lnSpc>
              <a:spcBef>
                <a:spcPts val="100"/>
              </a:spcBef>
              <a:buSzPct val="139130"/>
              <a:tabLst>
                <a:tab pos="383540" algn="l"/>
              </a:tabLst>
            </a:pPr>
            <a:endParaRPr sz="2300" dirty="0">
              <a:latin typeface="Times New Roman"/>
              <a:cs typeface="Times New Roman"/>
            </a:endParaRPr>
          </a:p>
        </p:txBody>
      </p:sp>
      <p:sp>
        <p:nvSpPr>
          <p:cNvPr id="7" name="object 5">
            <a:extLst>
              <a:ext uri="{FF2B5EF4-FFF2-40B4-BE49-F238E27FC236}">
                <a16:creationId xmlns:a16="http://schemas.microsoft.com/office/drawing/2014/main" id="{D582C315-211E-B8FE-C013-402CC3F38473}"/>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A8C91-469E-0A10-39AC-7A388334B0BB}"/>
              </a:ext>
            </a:extLst>
          </p:cNvPr>
          <p:cNvSpPr>
            <a:spLocks noGrp="1"/>
          </p:cNvSpPr>
          <p:nvPr>
            <p:ph type="title"/>
          </p:nvPr>
        </p:nvSpPr>
        <p:spPr>
          <a:xfrm>
            <a:off x="570074" y="236081"/>
            <a:ext cx="8003851" cy="500137"/>
          </a:xfrm>
        </p:spPr>
        <p:txBody>
          <a:bodyPr/>
          <a:lstStyle/>
          <a:p>
            <a:r>
              <a:rPr lang="" dirty="0"/>
              <a:t>Conclusion </a:t>
            </a:r>
          </a:p>
        </p:txBody>
      </p:sp>
      <p:sp>
        <p:nvSpPr>
          <p:cNvPr id="3" name="Text Placeholder 2">
            <a:extLst>
              <a:ext uri="{FF2B5EF4-FFF2-40B4-BE49-F238E27FC236}">
                <a16:creationId xmlns:a16="http://schemas.microsoft.com/office/drawing/2014/main" id="{F05D2A8E-D2D1-7994-56BC-484EC45142AC}"/>
              </a:ext>
            </a:extLst>
          </p:cNvPr>
          <p:cNvSpPr>
            <a:spLocks noGrp="1"/>
          </p:cNvSpPr>
          <p:nvPr>
            <p:ph type="body" idx="1"/>
          </p:nvPr>
        </p:nvSpPr>
        <p:spPr>
          <a:xfrm>
            <a:off x="570073" y="1316566"/>
            <a:ext cx="7703069" cy="1938992"/>
          </a:xfrm>
        </p:spPr>
        <p:txBody>
          <a:bodyPr/>
          <a:lstStyle/>
          <a:p>
            <a:pPr algn="just"/>
            <a:r>
              <a:rPr lang="" dirty="0"/>
              <a:t>         </a:t>
            </a:r>
            <a:r>
              <a:rPr lang="en-US" dirty="0"/>
              <a:t>The AI-based vehicle accident detection system provides an efficient solution for improving road safety and reducing emergency response time. By integrating </a:t>
            </a:r>
            <a:r>
              <a:rPr lang="en-US" dirty="0" err="1"/>
              <a:t>IoT</a:t>
            </a:r>
            <a:r>
              <a:rPr lang="en-US" dirty="0"/>
              <a:t> sensors, GPS technology, and machine learning techniques, the system can accurately detect accident events and automatically send alerts with location details. This helps emergency services respond quickly and potentially save lives. The proposed system demonstrates how intelligent technologies can be used to enhance transportation safety and real-time monitoring.</a:t>
            </a:r>
            <a:endParaRPr lang="" dirty="0"/>
          </a:p>
        </p:txBody>
      </p:sp>
      <p:sp>
        <p:nvSpPr>
          <p:cNvPr id="5" name="object 5">
            <a:extLst>
              <a:ext uri="{FF2B5EF4-FFF2-40B4-BE49-F238E27FC236}">
                <a16:creationId xmlns:a16="http://schemas.microsoft.com/office/drawing/2014/main" id="{34037989-6DDF-EDC6-C87B-0084097592B6}"/>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18</a:t>
            </a:fld>
            <a:endParaRPr spc="-25" dirty="0"/>
          </a:p>
        </p:txBody>
      </p:sp>
    </p:spTree>
    <p:extLst>
      <p:ext uri="{BB962C8B-B14F-4D97-AF65-F5344CB8AC3E}">
        <p14:creationId xmlns:p14="http://schemas.microsoft.com/office/powerpoint/2010/main" val="4031018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757" rIns="0" bIns="0" rtlCol="0">
            <a:spAutoFit/>
          </a:bodyPr>
          <a:lstStyle/>
          <a:p>
            <a:pPr marL="12700">
              <a:lnSpc>
                <a:spcPct val="100000"/>
              </a:lnSpc>
              <a:spcBef>
                <a:spcPts val="125"/>
              </a:spcBef>
            </a:pPr>
            <a:r>
              <a:rPr spc="-10" dirty="0"/>
              <a:t>References</a:t>
            </a:r>
          </a:p>
        </p:txBody>
      </p:sp>
      <p:sp>
        <p:nvSpPr>
          <p:cNvPr id="3" name="object 3"/>
          <p:cNvSpPr txBox="1">
            <a:spLocks noGrp="1"/>
          </p:cNvSpPr>
          <p:nvPr>
            <p:ph type="body" idx="1"/>
          </p:nvPr>
        </p:nvSpPr>
        <p:spPr>
          <a:xfrm>
            <a:off x="570074" y="1228900"/>
            <a:ext cx="8003851" cy="5505161"/>
          </a:xfrm>
          <a:prstGeom prst="rect">
            <a:avLst/>
          </a:prstGeom>
        </p:spPr>
        <p:txBody>
          <a:bodyPr vert="horz" wrap="square" lIns="0" tIns="12700" rIns="0" bIns="0" rtlCol="0">
            <a:spAutoFit/>
          </a:bodyPr>
          <a:lstStyle/>
          <a:p>
            <a:pPr marL="12700" marR="399415" algn="just">
              <a:lnSpc>
                <a:spcPct val="114999"/>
              </a:lnSpc>
              <a:spcBef>
                <a:spcPts val="100"/>
              </a:spcBef>
              <a:tabLst>
                <a:tab pos="335915" algn="l"/>
              </a:tabLst>
            </a:pPr>
            <a:r>
              <a:rPr lang="en-US" dirty="0"/>
              <a:t>[1] S. Sharma and R. Singh, “</a:t>
            </a:r>
            <a:r>
              <a:rPr lang="en-US" dirty="0" err="1"/>
              <a:t>IoT</a:t>
            </a:r>
            <a:r>
              <a:rPr lang="en-US" dirty="0"/>
              <a:t> Based Vehicle Accident Detection and Alert System,” International Journal of Engineering Research &amp; Technology (IJERT), vol. 8, no. 5, pp. 1023–1027, May 2019.</a:t>
            </a:r>
          </a:p>
          <a:p>
            <a:pPr marL="12700" marR="399415" algn="just">
              <a:lnSpc>
                <a:spcPct val="114999"/>
              </a:lnSpc>
              <a:spcBef>
                <a:spcPts val="100"/>
              </a:spcBef>
              <a:tabLst>
                <a:tab pos="335915" algn="l"/>
              </a:tabLst>
            </a:pPr>
            <a:endParaRPr lang="en-US" dirty="0"/>
          </a:p>
          <a:p>
            <a:pPr marL="12700" marR="399415" algn="just">
              <a:lnSpc>
                <a:spcPct val="114999"/>
              </a:lnSpc>
              <a:spcBef>
                <a:spcPts val="100"/>
              </a:spcBef>
              <a:tabLst>
                <a:tab pos="335915" algn="l"/>
              </a:tabLst>
            </a:pPr>
            <a:r>
              <a:rPr lang="en-US" dirty="0"/>
              <a:t>[2] A. Kumar and P. Gupta, “Smart Accident Detection and Reporting System Using </a:t>
            </a:r>
            <a:r>
              <a:rPr lang="en-US" dirty="0" err="1"/>
              <a:t>IoT</a:t>
            </a:r>
            <a:r>
              <a:rPr lang="en-US" dirty="0"/>
              <a:t>,” in Proceedings of the IEEE International Conference on Smart Computing, 2020, pp. 215–220.</a:t>
            </a:r>
          </a:p>
          <a:p>
            <a:pPr marL="12700" marR="399415" algn="just">
              <a:lnSpc>
                <a:spcPct val="114999"/>
              </a:lnSpc>
              <a:spcBef>
                <a:spcPts val="100"/>
              </a:spcBef>
              <a:tabLst>
                <a:tab pos="335915" algn="l"/>
              </a:tabLst>
            </a:pPr>
            <a:endParaRPr lang="en-US" dirty="0"/>
          </a:p>
          <a:p>
            <a:pPr marL="12700" marR="399415" algn="just">
              <a:lnSpc>
                <a:spcPct val="114999"/>
              </a:lnSpc>
              <a:spcBef>
                <a:spcPts val="100"/>
              </a:spcBef>
              <a:tabLst>
                <a:tab pos="335915" algn="l"/>
              </a:tabLst>
            </a:pPr>
            <a:r>
              <a:rPr lang="en-US" dirty="0"/>
              <a:t>[3] S. </a:t>
            </a:r>
            <a:r>
              <a:rPr lang="en-US" dirty="0" err="1"/>
              <a:t>Patil</a:t>
            </a:r>
            <a:r>
              <a:rPr lang="en-US" dirty="0"/>
              <a:t> and V. </a:t>
            </a:r>
            <a:r>
              <a:rPr lang="en-US" dirty="0" err="1"/>
              <a:t>Patil</a:t>
            </a:r>
            <a:r>
              <a:rPr lang="en-US" dirty="0"/>
              <a:t>, “Automatic Vehicle Accident Detection and Messaging System Using GPS and GSM,” International Journal of Advanced Research in Computer Engineering and Technology (IJARCET), vol. 6, no. 4, pp. 456–460, Apr. 2017.</a:t>
            </a:r>
          </a:p>
          <a:p>
            <a:pPr marL="12700" marR="399415" algn="just">
              <a:lnSpc>
                <a:spcPct val="114999"/>
              </a:lnSpc>
              <a:spcBef>
                <a:spcPts val="100"/>
              </a:spcBef>
              <a:tabLst>
                <a:tab pos="335915" algn="l"/>
              </a:tabLst>
            </a:pPr>
            <a:endParaRPr lang="en-US" dirty="0"/>
          </a:p>
          <a:p>
            <a:pPr marL="12700" marR="399415" algn="just">
              <a:lnSpc>
                <a:spcPct val="114999"/>
              </a:lnSpc>
              <a:spcBef>
                <a:spcPts val="100"/>
              </a:spcBef>
              <a:tabLst>
                <a:tab pos="335915" algn="l"/>
              </a:tabLst>
            </a:pPr>
            <a:r>
              <a:rPr lang="en-US" dirty="0"/>
              <a:t>[4] World Health Organization, Global Status Report on Road Safety, Geneva, Switzerland: WHO Press, 2018.</a:t>
            </a:r>
          </a:p>
          <a:p>
            <a:pPr marL="12700" marR="399415" algn="just">
              <a:lnSpc>
                <a:spcPct val="114999"/>
              </a:lnSpc>
              <a:spcBef>
                <a:spcPts val="100"/>
              </a:spcBef>
              <a:tabLst>
                <a:tab pos="335915" algn="l"/>
              </a:tabLst>
            </a:pPr>
            <a:endParaRPr lang="en-US" dirty="0"/>
          </a:p>
          <a:p>
            <a:pPr marL="12700" marR="399415" algn="just">
              <a:lnSpc>
                <a:spcPct val="114999"/>
              </a:lnSpc>
              <a:spcBef>
                <a:spcPts val="100"/>
              </a:spcBef>
              <a:tabLst>
                <a:tab pos="335915" algn="l"/>
              </a:tabLst>
            </a:pPr>
            <a:endParaRPr spc="-10" dirty="0"/>
          </a:p>
        </p:txBody>
      </p:sp>
      <p:sp>
        <p:nvSpPr>
          <p:cNvPr id="4" name="object 4"/>
          <p:cNvSpPr txBox="1"/>
          <p:nvPr/>
        </p:nvSpPr>
        <p:spPr>
          <a:xfrm>
            <a:off x="8866853" y="6511235"/>
            <a:ext cx="17970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FFFFFF"/>
                </a:solidFill>
                <a:latin typeface="Calibri"/>
                <a:cs typeface="Calibri"/>
              </a:rPr>
              <a:t>19</a:t>
            </a:r>
            <a:endParaRPr sz="1200">
              <a:latin typeface="Calibri"/>
              <a:cs typeface="Calibri"/>
            </a:endParaRPr>
          </a:p>
        </p:txBody>
      </p:sp>
      <p:sp>
        <p:nvSpPr>
          <p:cNvPr id="7" name="object 5">
            <a:extLst>
              <a:ext uri="{FF2B5EF4-FFF2-40B4-BE49-F238E27FC236}">
                <a16:creationId xmlns:a16="http://schemas.microsoft.com/office/drawing/2014/main" id="{C2E082E3-529E-354C-4837-2DA975A1FA31}"/>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6" name="object 5">
            <a:extLst>
              <a:ext uri="{FF2B5EF4-FFF2-40B4-BE49-F238E27FC236}">
                <a16:creationId xmlns:a16="http://schemas.microsoft.com/office/drawing/2014/main" id="{8CEBA11E-E93E-812E-D341-A28ACFC0A2D4}"/>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757" rIns="0" bIns="0" rtlCol="0">
            <a:spAutoFit/>
          </a:bodyPr>
          <a:lstStyle/>
          <a:p>
            <a:pPr marL="12700">
              <a:lnSpc>
                <a:spcPct val="100000"/>
              </a:lnSpc>
              <a:spcBef>
                <a:spcPts val="125"/>
              </a:spcBef>
            </a:pPr>
            <a:r>
              <a:rPr spc="-10" dirty="0"/>
              <a:t>References</a:t>
            </a:r>
          </a:p>
        </p:txBody>
      </p:sp>
      <p:sp>
        <p:nvSpPr>
          <p:cNvPr id="3" name="object 3"/>
          <p:cNvSpPr txBox="1"/>
          <p:nvPr/>
        </p:nvSpPr>
        <p:spPr>
          <a:xfrm>
            <a:off x="570074" y="1110030"/>
            <a:ext cx="7822565" cy="6167971"/>
          </a:xfrm>
          <a:prstGeom prst="rect">
            <a:avLst/>
          </a:prstGeom>
        </p:spPr>
        <p:txBody>
          <a:bodyPr vert="horz" wrap="square" lIns="0" tIns="12700" rIns="0" bIns="0" rtlCol="0">
            <a:spAutoFit/>
          </a:bodyPr>
          <a:lstStyle/>
          <a:p>
            <a:pPr marL="12700" marR="272415">
              <a:lnSpc>
                <a:spcPct val="114999"/>
              </a:lnSpc>
              <a:spcBef>
                <a:spcPts val="100"/>
              </a:spcBef>
              <a:tabLst>
                <a:tab pos="436880" algn="l"/>
              </a:tabLst>
            </a:pPr>
            <a:r>
              <a:rPr lang="en-US" spc="-35" dirty="0">
                <a:latin typeface="Times New Roman"/>
                <a:cs typeface="Times New Roman"/>
              </a:rPr>
              <a:t>[5] Python Software Foundation, “Python Language Reference,” Available: https://www.python.org</a:t>
            </a:r>
          </a:p>
          <a:p>
            <a:pPr marL="12700" marR="272415">
              <a:lnSpc>
                <a:spcPct val="114999"/>
              </a:lnSpc>
              <a:spcBef>
                <a:spcPts val="100"/>
              </a:spcBef>
              <a:tabLst>
                <a:tab pos="436880" algn="l"/>
              </a:tabLst>
            </a:pPr>
            <a:endParaRPr lang="en-US" sz="1800" spc="-35" dirty="0">
              <a:latin typeface="Times New Roman"/>
              <a:cs typeface="Times New Roman"/>
            </a:endParaRPr>
          </a:p>
          <a:p>
            <a:pPr marL="12700" marR="272415">
              <a:lnSpc>
                <a:spcPct val="114999"/>
              </a:lnSpc>
              <a:spcBef>
                <a:spcPts val="100"/>
              </a:spcBef>
              <a:tabLst>
                <a:tab pos="436880" algn="l"/>
              </a:tabLst>
            </a:pPr>
            <a:r>
              <a:rPr lang="en-US" sz="1800" spc="-35" dirty="0">
                <a:latin typeface="Times New Roman"/>
                <a:cs typeface="Times New Roman"/>
              </a:rPr>
              <a:t>[6] R. K. Sharma, “Accident Detection and Emergency Alert System Using Sensors,” International Journal of Electronics and Communication Engineering, vol. 9, no. 2, pp. 55–60, 2017.</a:t>
            </a:r>
          </a:p>
          <a:p>
            <a:pPr marL="12700" marR="272415">
              <a:lnSpc>
                <a:spcPct val="114999"/>
              </a:lnSpc>
              <a:spcBef>
                <a:spcPts val="100"/>
              </a:spcBef>
              <a:tabLst>
                <a:tab pos="436880" algn="l"/>
              </a:tabLst>
            </a:pPr>
            <a:endParaRPr lang="en-US" sz="1800" spc="-35" dirty="0">
              <a:latin typeface="Times New Roman"/>
              <a:cs typeface="Times New Roman"/>
            </a:endParaRPr>
          </a:p>
          <a:p>
            <a:pPr marL="12700" marR="272415">
              <a:lnSpc>
                <a:spcPct val="114999"/>
              </a:lnSpc>
              <a:spcBef>
                <a:spcPts val="100"/>
              </a:spcBef>
              <a:tabLst>
                <a:tab pos="436880" algn="l"/>
              </a:tabLst>
            </a:pPr>
            <a:r>
              <a:rPr lang="en-US" sz="1800" spc="-35" dirty="0">
                <a:latin typeface="Times New Roman"/>
                <a:cs typeface="Times New Roman"/>
              </a:rPr>
              <a:t>[7] N. K. Gupta and S. Jain, “Smart Vehicle Accident Detection System Using Machine Learning,” International Journal of Engineering and Advanced Technology, vol. 9, no. 1, pp. 102–107, 2019.</a:t>
            </a:r>
          </a:p>
          <a:p>
            <a:pPr marL="12700" marR="272415">
              <a:lnSpc>
                <a:spcPct val="114999"/>
              </a:lnSpc>
              <a:spcBef>
                <a:spcPts val="100"/>
              </a:spcBef>
              <a:tabLst>
                <a:tab pos="436880" algn="l"/>
              </a:tabLst>
            </a:pPr>
            <a:endParaRPr lang="en-US" sz="1800" spc="-35" dirty="0">
              <a:latin typeface="Times New Roman"/>
              <a:cs typeface="Times New Roman"/>
            </a:endParaRPr>
          </a:p>
          <a:p>
            <a:pPr marL="12700" marR="272415">
              <a:lnSpc>
                <a:spcPct val="114999"/>
              </a:lnSpc>
              <a:spcBef>
                <a:spcPts val="100"/>
              </a:spcBef>
              <a:tabLst>
                <a:tab pos="436880" algn="l"/>
              </a:tabLst>
            </a:pPr>
            <a:r>
              <a:rPr lang="en-US" sz="1800" spc="-35" dirty="0">
                <a:latin typeface="Times New Roman"/>
                <a:cs typeface="Times New Roman"/>
              </a:rPr>
              <a:t>[8] V. Singh and P. Sharma, “AI-Based Road Accident Detection System,” IEEE International Conference on Artificial Intelligence and Smart Systems, 2021.</a:t>
            </a:r>
          </a:p>
          <a:p>
            <a:pPr marL="12700" marR="272415">
              <a:lnSpc>
                <a:spcPct val="114999"/>
              </a:lnSpc>
              <a:spcBef>
                <a:spcPts val="100"/>
              </a:spcBef>
              <a:tabLst>
                <a:tab pos="436880" algn="l"/>
              </a:tabLst>
            </a:pPr>
            <a:endParaRPr lang="en-US" sz="1800" spc="-35" dirty="0">
              <a:latin typeface="Times New Roman"/>
              <a:cs typeface="Times New Roman"/>
            </a:endParaRPr>
          </a:p>
          <a:p>
            <a:pPr marL="12700" marR="272415">
              <a:lnSpc>
                <a:spcPct val="114999"/>
              </a:lnSpc>
              <a:spcBef>
                <a:spcPts val="100"/>
              </a:spcBef>
              <a:tabLst>
                <a:tab pos="436880" algn="l"/>
              </a:tabLst>
            </a:pPr>
            <a:r>
              <a:rPr lang="en-US" sz="1800" spc="-35" dirty="0">
                <a:latin typeface="Times New Roman"/>
                <a:cs typeface="Times New Roman"/>
              </a:rPr>
              <a:t>[9] World Health Organization, Global Status Report on Road Safety, Geneva, Switzerland: WHO Press, 2018.</a:t>
            </a:r>
          </a:p>
          <a:p>
            <a:pPr marL="12700" marR="272415">
              <a:lnSpc>
                <a:spcPct val="114999"/>
              </a:lnSpc>
              <a:spcBef>
                <a:spcPts val="100"/>
              </a:spcBef>
              <a:tabLst>
                <a:tab pos="436880" algn="l"/>
              </a:tabLst>
            </a:pPr>
            <a:endParaRPr lang="en-US" sz="1800" spc="-35" dirty="0">
              <a:latin typeface="Times New Roman"/>
              <a:cs typeface="Times New Roman"/>
            </a:endParaRPr>
          </a:p>
          <a:p>
            <a:pPr marL="12700" marR="272415">
              <a:lnSpc>
                <a:spcPct val="114999"/>
              </a:lnSpc>
              <a:spcBef>
                <a:spcPts val="100"/>
              </a:spcBef>
              <a:tabLst>
                <a:tab pos="436880" algn="l"/>
              </a:tabLst>
            </a:pPr>
            <a:endParaRPr sz="1800" dirty="0">
              <a:latin typeface="Times New Roman"/>
              <a:cs typeface="Times New Roman"/>
            </a:endParaRPr>
          </a:p>
        </p:txBody>
      </p:sp>
      <p:sp>
        <p:nvSpPr>
          <p:cNvPr id="4" name="object 4"/>
          <p:cNvSpPr txBox="1"/>
          <p:nvPr/>
        </p:nvSpPr>
        <p:spPr>
          <a:xfrm>
            <a:off x="8866853" y="6511235"/>
            <a:ext cx="17970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FFFFFF"/>
                </a:solidFill>
                <a:latin typeface="Calibri"/>
                <a:cs typeface="Calibri"/>
              </a:rPr>
              <a:t>20</a:t>
            </a:r>
            <a:endParaRPr sz="1200">
              <a:latin typeface="Calibri"/>
              <a:cs typeface="Calibri"/>
            </a:endParaRPr>
          </a:p>
        </p:txBody>
      </p:sp>
      <p:sp>
        <p:nvSpPr>
          <p:cNvPr id="7" name="object 5">
            <a:extLst>
              <a:ext uri="{FF2B5EF4-FFF2-40B4-BE49-F238E27FC236}">
                <a16:creationId xmlns:a16="http://schemas.microsoft.com/office/drawing/2014/main" id="{8679D71C-13FB-9E35-4B7E-E9B134381513}"/>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
        <p:nvSpPr>
          <p:cNvPr id="6" name="object 5">
            <a:extLst>
              <a:ext uri="{FF2B5EF4-FFF2-40B4-BE49-F238E27FC236}">
                <a16:creationId xmlns:a16="http://schemas.microsoft.com/office/drawing/2014/main" id="{30D4833F-FA9F-2D27-69F5-A3FE4FDC72F3}"/>
              </a:ext>
            </a:extLst>
          </p:cNvPr>
          <p:cNvSpPr txBox="1">
            <a:spLocks noGrp="1"/>
          </p:cNvSpPr>
          <p:nvPr>
            <p:ph type="sldNum" sz="quarter" idx="7"/>
          </p:nvPr>
        </p:nvSpPr>
        <p:spPr>
          <a:xfrm>
            <a:off x="8841453" y="6535037"/>
            <a:ext cx="243753" cy="192097"/>
          </a:xfrm>
          <a:prstGeom prst="rect">
            <a:avLst/>
          </a:prstGeom>
        </p:spPr>
        <p:txBody>
          <a:bodyPr vert="horz" wrap="square" lIns="0" tIns="0" rIns="0" bIns="0" rtlCol="0">
            <a:spAutoFit/>
          </a:bodyPr>
          <a:lstStyle/>
          <a:p>
            <a:pPr marL="38100">
              <a:lnSpc>
                <a:spcPts val="1240"/>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757" rIns="0" bIns="0" rtlCol="0">
            <a:spAutoFit/>
          </a:bodyPr>
          <a:lstStyle/>
          <a:p>
            <a:pPr marL="12700">
              <a:lnSpc>
                <a:spcPct val="100000"/>
              </a:lnSpc>
              <a:spcBef>
                <a:spcPts val="125"/>
              </a:spcBef>
            </a:pPr>
            <a:r>
              <a:rPr spc="-10" dirty="0"/>
              <a:t>References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21</a:t>
            </a:fld>
            <a:endParaRPr spc="-25" dirty="0"/>
          </a:p>
        </p:txBody>
      </p:sp>
      <p:sp>
        <p:nvSpPr>
          <p:cNvPr id="3" name="object 3"/>
          <p:cNvSpPr txBox="1"/>
          <p:nvPr/>
        </p:nvSpPr>
        <p:spPr>
          <a:xfrm>
            <a:off x="570050" y="1036858"/>
            <a:ext cx="7821930" cy="273280"/>
          </a:xfrm>
          <a:prstGeom prst="rect">
            <a:avLst/>
          </a:prstGeom>
        </p:spPr>
        <p:txBody>
          <a:bodyPr vert="horz" wrap="square" lIns="0" tIns="12700" rIns="0" bIns="0" rtlCol="0">
            <a:spAutoFit/>
          </a:bodyPr>
          <a:lstStyle/>
          <a:p>
            <a:pPr marL="12700" marR="5080" indent="287655" algn="just">
              <a:lnSpc>
                <a:spcPct val="114999"/>
              </a:lnSpc>
              <a:spcBef>
                <a:spcPts val="100"/>
              </a:spcBef>
              <a:buAutoNum type="arabicPlain"/>
              <a:tabLst>
                <a:tab pos="300355" algn="l"/>
              </a:tabLst>
            </a:pPr>
            <a:endParaRPr lang="en-IN" sz="1600" dirty="0">
              <a:latin typeface="Times New Roman"/>
              <a:cs typeface="Times New Roman"/>
            </a:endParaRPr>
          </a:p>
        </p:txBody>
      </p:sp>
      <p:sp>
        <p:nvSpPr>
          <p:cNvPr id="6" name="Rectangle 1">
            <a:extLst>
              <a:ext uri="{FF2B5EF4-FFF2-40B4-BE49-F238E27FC236}">
                <a16:creationId xmlns:a16="http://schemas.microsoft.com/office/drawing/2014/main" id="{46B5A04B-185C-34B6-A4B5-5E385A8001D5}"/>
              </a:ext>
            </a:extLst>
          </p:cNvPr>
          <p:cNvSpPr>
            <a:spLocks noChangeArrowheads="1"/>
          </p:cNvSpPr>
          <p:nvPr/>
        </p:nvSpPr>
        <p:spPr bwMode="auto">
          <a:xfrm>
            <a:off x="570050" y="1198778"/>
            <a:ext cx="7821930" cy="4844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14999"/>
              </a:lnSpc>
              <a:spcBef>
                <a:spcPct val="0"/>
              </a:spcBef>
              <a:spcAft>
                <a:spcPct val="0"/>
              </a:spcAft>
              <a:buClrTx/>
              <a:buSzTx/>
              <a:tabLst/>
            </a:pPr>
            <a:r>
              <a:rPr lang="en-US" sz="1800" spc="-35" dirty="0">
                <a:latin typeface="Times New Roman"/>
                <a:cs typeface="Times New Roman"/>
              </a:rPr>
              <a:t>[11] Python Software Foundation, “Python Language Reference Manual,” Available: </a:t>
            </a:r>
            <a:r>
              <a:rPr lang="en-US" sz="1800" spc="-35" dirty="0">
                <a:latin typeface="Times New Roman"/>
                <a:cs typeface="Times New Roman"/>
                <a:hlinkClick r:id="rId2"/>
              </a:rPr>
              <a:t>https://www.python.org</a:t>
            </a:r>
            <a:endParaRPr lang="en-US" sz="1800" spc="-35" dirty="0">
              <a:latin typeface="Times New Roman"/>
              <a:cs typeface="Times New Roman"/>
            </a:endParaRPr>
          </a:p>
          <a:p>
            <a:pPr marL="342900" marR="0" lvl="0" indent="-342900" algn="just" defTabSz="914400" rtl="0" eaLnBrk="0" fontAlgn="base" latinLnBrk="0" hangingPunct="0">
              <a:lnSpc>
                <a:spcPct val="114999"/>
              </a:lnSpc>
              <a:spcBef>
                <a:spcPct val="0"/>
              </a:spcBef>
              <a:spcAft>
                <a:spcPct val="0"/>
              </a:spcAft>
              <a:buClrTx/>
              <a:buSzTx/>
              <a:buAutoNum type="arabicPlain"/>
              <a:tabLst/>
            </a:pPr>
            <a:endParaRPr lang="en-US" spc="-35" dirty="0">
              <a:latin typeface="Times New Roman"/>
              <a:cs typeface="Times New Roman"/>
            </a:endParaRPr>
          </a:p>
          <a:p>
            <a:pPr marR="0" lvl="0" algn="just" defTabSz="914400" rtl="0" eaLnBrk="0" fontAlgn="base" latinLnBrk="0" hangingPunct="0">
              <a:lnSpc>
                <a:spcPct val="114999"/>
              </a:lnSpc>
              <a:spcBef>
                <a:spcPct val="0"/>
              </a:spcBef>
              <a:spcAft>
                <a:spcPct val="0"/>
              </a:spcAft>
              <a:buClrTx/>
              <a:buSzTx/>
              <a:tabLst/>
            </a:pPr>
            <a:r>
              <a:rPr lang="en-US" sz="1800" spc="-35" dirty="0">
                <a:latin typeface="Times New Roman"/>
                <a:cs typeface="Times New Roman"/>
              </a:rPr>
              <a:t>[12] </a:t>
            </a:r>
            <a:r>
              <a:rPr lang="en-US" sz="1800" spc="-35" dirty="0" err="1">
                <a:latin typeface="Times New Roman"/>
                <a:cs typeface="Times New Roman"/>
              </a:rPr>
              <a:t>TinyGPS</a:t>
            </a:r>
            <a:r>
              <a:rPr lang="en-US" sz="1800" spc="-35" dirty="0">
                <a:latin typeface="Times New Roman"/>
                <a:cs typeface="Times New Roman"/>
              </a:rPr>
              <a:t>++ Library Documentation, “GPS Parsing Library for Embedded Systems,” Available: </a:t>
            </a:r>
            <a:r>
              <a:rPr lang="en-US" sz="1800" spc="-35" dirty="0">
                <a:latin typeface="Times New Roman"/>
                <a:cs typeface="Times New Roman"/>
                <a:hlinkClick r:id="rId3"/>
              </a:rPr>
              <a:t>https://github.com/mikalhart/TinyGPSPlus</a:t>
            </a:r>
            <a:endParaRPr lang="en-US" sz="1800" spc="-35" dirty="0">
              <a:latin typeface="Times New Roman"/>
              <a:cs typeface="Times New Roman"/>
            </a:endParaRPr>
          </a:p>
          <a:p>
            <a:pPr marL="342900" marR="0" lvl="0" indent="-342900" algn="just" defTabSz="914400" rtl="0" eaLnBrk="0" fontAlgn="base" latinLnBrk="0" hangingPunct="0">
              <a:lnSpc>
                <a:spcPct val="114999"/>
              </a:lnSpc>
              <a:spcBef>
                <a:spcPct val="0"/>
              </a:spcBef>
              <a:spcAft>
                <a:spcPct val="0"/>
              </a:spcAft>
              <a:buClrTx/>
              <a:buSzTx/>
              <a:buAutoNum type="arabicPlain"/>
              <a:tabLst/>
            </a:pPr>
            <a:endParaRPr lang="en-US" sz="1800" spc="-35" dirty="0">
              <a:latin typeface="Times New Roman"/>
              <a:cs typeface="Times New Roman"/>
            </a:endParaRPr>
          </a:p>
          <a:p>
            <a:pPr marR="0" lvl="0" algn="just" defTabSz="914400" rtl="0" eaLnBrk="0" fontAlgn="base" latinLnBrk="0" hangingPunct="0">
              <a:lnSpc>
                <a:spcPct val="114999"/>
              </a:lnSpc>
              <a:spcBef>
                <a:spcPct val="0"/>
              </a:spcBef>
              <a:spcAft>
                <a:spcPct val="0"/>
              </a:spcAft>
              <a:buClrTx/>
              <a:buSzTx/>
              <a:tabLst/>
            </a:pPr>
            <a:r>
              <a:rPr lang="en-US" sz="1800" spc="-35" dirty="0">
                <a:latin typeface="Times New Roman"/>
                <a:cs typeface="Times New Roman"/>
              </a:rPr>
              <a:t>[13] </a:t>
            </a:r>
            <a:r>
              <a:rPr lang="en-US" sz="1800" spc="-35" dirty="0" err="1">
                <a:latin typeface="Times New Roman"/>
                <a:cs typeface="Times New Roman"/>
              </a:rPr>
              <a:t>Streamlit</a:t>
            </a:r>
            <a:r>
              <a:rPr lang="en-US" sz="1800" spc="-35" dirty="0">
                <a:latin typeface="Times New Roman"/>
                <a:cs typeface="Times New Roman"/>
              </a:rPr>
              <a:t> Inc., “</a:t>
            </a:r>
            <a:r>
              <a:rPr lang="en-US" sz="1800" spc="-35" dirty="0" err="1">
                <a:latin typeface="Times New Roman"/>
                <a:cs typeface="Times New Roman"/>
              </a:rPr>
              <a:t>Streamlit</a:t>
            </a:r>
            <a:r>
              <a:rPr lang="en-US" sz="1800" spc="-35" dirty="0">
                <a:latin typeface="Times New Roman"/>
                <a:cs typeface="Times New Roman"/>
              </a:rPr>
              <a:t> Documentation for Data Apps,” Available: </a:t>
            </a:r>
            <a:r>
              <a:rPr lang="en-US" sz="1800" spc="-35" dirty="0">
                <a:latin typeface="Times New Roman"/>
                <a:cs typeface="Times New Roman"/>
                <a:hlinkClick r:id="rId4"/>
              </a:rPr>
              <a:t>https://streamlit.io</a:t>
            </a:r>
            <a:endParaRPr lang="en-US" sz="1800" spc="-35" dirty="0">
              <a:latin typeface="Times New Roman"/>
              <a:cs typeface="Times New Roman"/>
            </a:endParaRPr>
          </a:p>
          <a:p>
            <a:pPr marL="342900" marR="0" lvl="0" indent="-342900" algn="just" defTabSz="914400" rtl="0" eaLnBrk="0" fontAlgn="base" latinLnBrk="0" hangingPunct="0">
              <a:lnSpc>
                <a:spcPct val="114999"/>
              </a:lnSpc>
              <a:spcBef>
                <a:spcPct val="0"/>
              </a:spcBef>
              <a:spcAft>
                <a:spcPct val="0"/>
              </a:spcAft>
              <a:buClrTx/>
              <a:buSzTx/>
              <a:buAutoNum type="arabicPlain"/>
              <a:tabLst/>
            </a:pPr>
            <a:endParaRPr lang="en-US" sz="1800" spc="-35" dirty="0">
              <a:latin typeface="Times New Roman"/>
              <a:cs typeface="Times New Roman"/>
            </a:endParaRPr>
          </a:p>
          <a:p>
            <a:pPr marR="0" lvl="0" algn="just" defTabSz="914400" rtl="0" eaLnBrk="0" fontAlgn="base" latinLnBrk="0" hangingPunct="0">
              <a:lnSpc>
                <a:spcPct val="114999"/>
              </a:lnSpc>
              <a:spcBef>
                <a:spcPct val="0"/>
              </a:spcBef>
              <a:spcAft>
                <a:spcPct val="0"/>
              </a:spcAft>
              <a:buClrTx/>
              <a:buSzTx/>
              <a:tabLst/>
            </a:pPr>
            <a:r>
              <a:rPr lang="en-US" sz="1800" spc="-35" dirty="0">
                <a:latin typeface="Times New Roman"/>
                <a:cs typeface="Times New Roman"/>
              </a:rPr>
              <a:t>[14] M. R. Islam and S. Hossain, “Machine Learning Based Road Accident Prediction and Detection System,” IEEE Access, vol. 8, pp. 134234–134245, 2020.</a:t>
            </a:r>
          </a:p>
          <a:p>
            <a:pPr marL="342900" marR="0" lvl="0" indent="-342900" algn="just" defTabSz="914400" rtl="0" eaLnBrk="0" fontAlgn="base" latinLnBrk="0" hangingPunct="0">
              <a:lnSpc>
                <a:spcPct val="114999"/>
              </a:lnSpc>
              <a:spcBef>
                <a:spcPct val="0"/>
              </a:spcBef>
              <a:spcAft>
                <a:spcPct val="0"/>
              </a:spcAft>
              <a:buClrTx/>
              <a:buSzTx/>
              <a:buAutoNum type="arabicPlain"/>
              <a:tabLst/>
            </a:pPr>
            <a:endParaRPr lang="en-US" spc="-35" dirty="0">
              <a:latin typeface="Times New Roman"/>
              <a:cs typeface="Times New Roman"/>
            </a:endParaRPr>
          </a:p>
          <a:p>
            <a:pPr marR="0" lvl="0" algn="just" defTabSz="914400" rtl="0" eaLnBrk="0" fontAlgn="base" latinLnBrk="0" hangingPunct="0">
              <a:lnSpc>
                <a:spcPct val="114999"/>
              </a:lnSpc>
              <a:spcBef>
                <a:spcPct val="0"/>
              </a:spcBef>
              <a:spcAft>
                <a:spcPct val="0"/>
              </a:spcAft>
              <a:buClrTx/>
              <a:buSzTx/>
              <a:tabLst/>
            </a:pPr>
            <a:r>
              <a:rPr lang="en-US" sz="1800" spc="-35" dirty="0">
                <a:latin typeface="Times New Roman"/>
                <a:cs typeface="Times New Roman"/>
              </a:rPr>
              <a:t>[15] J. Chen, Y. Wang and H. Li, “Deep Learning-Based Traffic Accident Detection in Intelligent Transportation Systems,” IEEE Transactions on Intelligent Transportation Systems, vol. 22, no. 7, pp. 4321–4332, 2021.</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 name="object 5">
            <a:extLst>
              <a:ext uri="{FF2B5EF4-FFF2-40B4-BE49-F238E27FC236}">
                <a16:creationId xmlns:a16="http://schemas.microsoft.com/office/drawing/2014/main" id="{158762AE-0A43-2242-5D5E-D30D832E7542}"/>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6877" y="6496937"/>
            <a:ext cx="17970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FFFFFF"/>
                </a:solidFill>
                <a:latin typeface="Calibri"/>
                <a:cs typeface="Calibri"/>
              </a:rPr>
              <a:t>21</a:t>
            </a:r>
            <a:endParaRPr sz="1200">
              <a:latin typeface="Calibri"/>
              <a:cs typeface="Calibri"/>
            </a:endParaRPr>
          </a:p>
        </p:txBody>
      </p:sp>
      <p:sp>
        <p:nvSpPr>
          <p:cNvPr id="3" name="object 3"/>
          <p:cNvSpPr txBox="1">
            <a:spLocks noGrp="1"/>
          </p:cNvSpPr>
          <p:nvPr>
            <p:ph type="title"/>
          </p:nvPr>
        </p:nvSpPr>
        <p:spPr>
          <a:xfrm>
            <a:off x="2429234" y="2965268"/>
            <a:ext cx="4285615" cy="848360"/>
          </a:xfrm>
          <a:prstGeom prst="rect">
            <a:avLst/>
          </a:prstGeom>
        </p:spPr>
        <p:txBody>
          <a:bodyPr vert="horz" wrap="square" lIns="0" tIns="12700" rIns="0" bIns="0" rtlCol="0">
            <a:spAutoFit/>
          </a:bodyPr>
          <a:lstStyle/>
          <a:p>
            <a:pPr marL="12700">
              <a:lnSpc>
                <a:spcPct val="100000"/>
              </a:lnSpc>
              <a:spcBef>
                <a:spcPts val="100"/>
              </a:spcBef>
            </a:pPr>
            <a:r>
              <a:rPr sz="5400" spc="-25" dirty="0">
                <a:solidFill>
                  <a:srgbClr val="4472C4"/>
                </a:solidFill>
              </a:rPr>
              <a:t>THANK</a:t>
            </a:r>
            <a:r>
              <a:rPr sz="5400" spc="-290" dirty="0">
                <a:solidFill>
                  <a:srgbClr val="4472C4"/>
                </a:solidFill>
              </a:rPr>
              <a:t> </a:t>
            </a:r>
            <a:r>
              <a:rPr sz="5400" spc="-20" dirty="0">
                <a:solidFill>
                  <a:srgbClr val="4472C4"/>
                </a:solidFill>
              </a:rPr>
              <a:t>YOU!</a:t>
            </a:r>
            <a:endParaRPr sz="5400"/>
          </a:p>
        </p:txBody>
      </p:sp>
      <p:sp>
        <p:nvSpPr>
          <p:cNvPr id="6" name="object 5">
            <a:extLst>
              <a:ext uri="{FF2B5EF4-FFF2-40B4-BE49-F238E27FC236}">
                <a16:creationId xmlns:a16="http://schemas.microsoft.com/office/drawing/2014/main" id="{ECEB4AAD-E4EE-3EB8-C48C-9FDFB505FB89}"/>
              </a:ext>
            </a:extLst>
          </p:cNvPr>
          <p:cNvSpPr txBox="1"/>
          <p:nvPr/>
        </p:nvSpPr>
        <p:spPr>
          <a:xfrm>
            <a:off x="1081331" y="6401162"/>
            <a:ext cx="6711950" cy="295402"/>
          </a:xfrm>
          <a:prstGeom prst="rect">
            <a:avLst/>
          </a:prstGeom>
        </p:spPr>
        <p:txBody>
          <a:bodyPr vert="horz" wrap="square" lIns="0" tIns="12700" rIns="0" bIns="0" rtlCol="0">
            <a:spAutoFit/>
          </a:bodyPr>
          <a:lstStyle/>
          <a:p>
            <a:pPr marL="12065" marR="5080" indent="130175" algn="ctr">
              <a:lnSpc>
                <a:spcPts val="2480"/>
              </a:lnSpc>
              <a:spcBef>
                <a:spcPts val="415"/>
              </a:spcBef>
            </a:pPr>
            <a:r>
              <a:rPr lang="en-US" sz="1400" b="1" dirty="0">
                <a:solidFill>
                  <a:schemeClr val="bg1"/>
                </a:solidFill>
                <a:latin typeface="Times New Roman" panose="02020603050405020304" pitchFamily="18" charset="0"/>
                <a:cs typeface="Times New Roman" panose="02020603050405020304" pitchFamily="18" charset="0"/>
              </a:rPr>
              <a:t>AI-Based Vehicle Accident Detection and Monitoring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467</TotalTime>
  <Words>1995</Words>
  <Application>Microsoft Office PowerPoint</Application>
  <PresentationFormat>On-screen Show (4:3)</PresentationFormat>
  <Paragraphs>254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Pimpri Chinchwad College of Engineering</vt:lpstr>
      <vt:lpstr>Outline of Project</vt:lpstr>
      <vt:lpstr>Introduction</vt:lpstr>
      <vt:lpstr>Literature Review</vt:lpstr>
      <vt:lpstr>Need of the Project</vt:lpstr>
      <vt:lpstr>Problem Statement </vt:lpstr>
      <vt:lpstr>SDGs Mapped</vt:lpstr>
      <vt:lpstr>System Architecture</vt:lpstr>
      <vt:lpstr>Methodology</vt:lpstr>
      <vt:lpstr>Methodology</vt:lpstr>
      <vt:lpstr>Methodology</vt:lpstr>
      <vt:lpstr>Methodology </vt:lpstr>
      <vt:lpstr>Novelty of the Project</vt:lpstr>
      <vt:lpstr>Circuit Implementation</vt:lpstr>
      <vt:lpstr>Result</vt:lpstr>
      <vt:lpstr>Result</vt:lpstr>
      <vt:lpstr>Future Scope</vt:lpstr>
      <vt:lpstr>Conclusion </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oofReview pawan  1 PPT.pptx</dc:title>
  <dc:creator>VVK</dc:creator>
  <cp:lastModifiedBy>Vivek Deshmukh</cp:lastModifiedBy>
  <cp:revision>13</cp:revision>
  <dcterms:created xsi:type="dcterms:W3CDTF">2026-03-17T01:53:27Z</dcterms:created>
  <dcterms:modified xsi:type="dcterms:W3CDTF">2026-04-09T10:42:07Z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2026-03-17T00:00:00Z</vt:filetime>
  </property>
  <property fmtid="{D5CDD505-2E9C-101B-9397-08002B2CF9AE}" pid="3" name="Creator">
    <vt:lpwstr>Google</vt:lpwstr>
  </property>
  <property fmtid="{D5CDD505-2E9C-101B-9397-08002B2CF9AE}" pid="4" name="LastSaved">
    <vt:filetime>2026-03-17T00:00:00Z</vt:filetime>
  </property>
</Properties>
</file>